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0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4.xml" ContentType="application/vnd.openxmlformats-officedocument.drawingml.chart+xml"/>
  <Override PartName="/ppt/embeddings/Microsoft_Excel_Worksheet14.xlsx" ContentType="application/vnd.openxmlformats-officedocument.spreadsheetml.sheet"/>
  <Override PartName="/ppt/charts/chart15.xml" ContentType="application/vnd.openxmlformats-officedocument.drawingml.chart+xml"/>
  <Override PartName="/ppt/embeddings/Microsoft_Excel_Worksheet15.xlsx" ContentType="application/vnd.openxmlformats-officedocument.spreadsheetml.sheet"/>
  <Override PartName="/ppt/charts/chart16.xml" ContentType="application/vnd.openxmlformats-officedocument.drawingml.chart+xml"/>
  <Override PartName="/ppt/embeddings/Microsoft_Excel_Worksheet16.xlsx" ContentType="application/vnd.openxmlformats-officedocument.spreadsheetml.sheet"/>
  <Override PartName="/ppt/charts/chart17.xml" ContentType="application/vnd.openxmlformats-officedocument.drawingml.chart+xml"/>
  <Override PartName="/ppt/embeddings/Microsoft_Excel_Worksheet17.xlsx" ContentType="application/vnd.openxmlformats-officedocument.spreadsheetml.sheet"/>
  <Override PartName="/ppt/charts/chart18.xml" ContentType="application/vnd.openxmlformats-officedocument.drawingml.chart+xml"/>
  <Override PartName="/ppt/embeddings/Microsoft_Excel_Worksheet18.xlsx" ContentType="application/vnd.openxmlformats-officedocument.spreadsheetml.sheet"/>
  <Override PartName="/ppt/charts/chart19.xml" ContentType="application/vnd.openxmlformats-officedocument.drawingml.chart+xml"/>
  <Override PartName="/ppt/embeddings/Microsoft_Excel_Worksheet19.xlsx" ContentType="application/vnd.openxmlformats-officedocument.spreadsheetml.sheet"/>
  <Override PartName="/ppt/charts/chart20.xml" ContentType="application/vnd.openxmlformats-officedocument.drawingml.chart+xml"/>
  <Override PartName="/ppt/embeddings/Microsoft_Excel_Worksheet20.xlsx" ContentType="application/vnd.openxmlformats-officedocument.spreadsheetml.sheet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harts/chart21.xml" ContentType="application/vnd.openxmlformats-officedocument.drawingml.chart+xml"/>
  <Override PartName="/ppt/embeddings/Microsoft_Excel_Worksheet21.xlsx" ContentType="application/vnd.openxmlformats-officedocument.spreadsheetml.sheet"/>
  <Override PartName="/ppt/charts/chart22.xml" ContentType="application/vnd.openxmlformats-officedocument.drawingml.chart+xml"/>
  <Override PartName="/ppt/embeddings/Microsoft_Excel_Worksheet22.xlsx" ContentType="application/vnd.openxmlformats-officedocument.spreadsheetml.sheet"/>
  <Override PartName="/ppt/charts/chart23.xml" ContentType="application/vnd.openxmlformats-officedocument.drawingml.chart+xml"/>
  <Override PartName="/ppt/embeddings/Microsoft_Excel_Worksheet23.xlsx" ContentType="application/vnd.openxmlformats-officedocument.spreadsheetml.sheet"/>
  <Override PartName="/ppt/charts/chart24.xml" ContentType="application/vnd.openxmlformats-officedocument.drawingml.chart+xml"/>
  <Override PartName="/ppt/embeddings/Microsoft_Excel_Worksheet24.xlsx" ContentType="application/vnd.openxmlformats-officedocument.spreadsheetml.sheet"/>
  <Override PartName="/ppt/charts/chart25.xml" ContentType="application/vnd.openxmlformats-officedocument.drawingml.chart+xml"/>
  <Override PartName="/ppt/embeddings/Microsoft_Excel_Worksheet25.xlsx" ContentType="application/vnd.openxmlformats-officedocument.spreadsheetml.sheet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200" b="1">
                        <a:solidFill>
                          <a:srgbClr val="000000"/>
                        </a:solidFill>
                        <a:latin typeface="Arial"/>
                      </a:rPr>
                      <a:t>85%</a:t>
                    </a:r>
                  </a:p>
                  <a:p>
                    <a:pPr>
                      <a:defRPr/>
                    </a:pPr>
                    <a:r>
                      <a:rPr lang="en-US" sz="1200" b="0">
                        <a:solidFill>
                          <a:srgbClr val="000000"/>
                        </a:solidFill>
                        <a:latin typeface="Arial"/>
                      </a:rPr>
                      <a:t>255 users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200" b="1">
                        <a:solidFill>
                          <a:srgbClr val="000000"/>
                        </a:solidFill>
                        <a:latin typeface="Arial"/>
                      </a:rPr>
                      <a:t>70%</a:t>
                    </a:r>
                  </a:p>
                  <a:p>
                    <a:pPr>
                      <a:defRPr/>
                    </a:pPr>
                    <a:r>
                      <a:rPr lang="en-US" sz="1200" b="0">
                        <a:solidFill>
                          <a:srgbClr val="000000"/>
                        </a:solidFill>
                        <a:latin typeface="Arial"/>
                      </a:rPr>
                      <a:t>280 users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in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0.85</c:v>
                </c:pt>
                <c:pt idx="1">
                  <c:v>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200" b="1">
                        <a:solidFill>
                          <a:srgbClr val="FFFFFF"/>
                        </a:solidFill>
                        <a:latin typeface="Arial"/>
                      </a:rPr>
                      <a:t>88%</a:t>
                    </a:r>
                  </a:p>
                  <a:p>
                    <a:pPr>
                      <a:defRPr/>
                    </a:pPr>
                    <a:r>
                      <a:rPr lang="en-US" sz="1200" b="0">
                        <a:solidFill>
                          <a:srgbClr val="FFFFFF"/>
                        </a:solidFill>
                        <a:latin typeface="Arial"/>
                      </a:rPr>
                      <a:t>261 users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200" b="1">
                        <a:solidFill>
                          <a:srgbClr val="FFFFFF"/>
                        </a:solidFill>
                        <a:latin typeface="Arial"/>
                      </a:rPr>
                      <a:t>75%</a:t>
                    </a:r>
                  </a:p>
                  <a:p>
                    <a:pPr>
                      <a:defRPr/>
                    </a:pPr>
                    <a:r>
                      <a:rPr lang="en-US" sz="1200" b="0">
                        <a:solidFill>
                          <a:srgbClr val="FFFFFF"/>
                        </a:solidFill>
                        <a:latin typeface="Arial"/>
                      </a:rPr>
                      <a:t>293 users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in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0.88</c:v>
                </c:pt>
                <c:pt idx="1">
                  <c:v>0.75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200" b="1">
                        <a:solidFill>
                          <a:srgbClr val="FFFFFF"/>
                        </a:solidFill>
                        <a:latin typeface="Arial"/>
                      </a:rPr>
                      <a:t>91%</a:t>
                    </a:r>
                  </a:p>
                  <a:p>
                    <a:pPr>
                      <a:defRPr/>
                    </a:pPr>
                    <a:r>
                      <a:rPr lang="en-US" sz="1200" b="0">
                        <a:solidFill>
                          <a:srgbClr val="FFFFFF"/>
                        </a:solidFill>
                        <a:latin typeface="Arial"/>
                      </a:rPr>
                      <a:t>263 users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200" b="1">
                        <a:solidFill>
                          <a:srgbClr val="FFFFFF"/>
                        </a:solidFill>
                        <a:latin typeface="Arial"/>
                      </a:rPr>
                      <a:t>77%</a:t>
                    </a:r>
                  </a:p>
                  <a:p>
                    <a:pPr>
                      <a:defRPr/>
                    </a:pPr>
                    <a:r>
                      <a:rPr lang="en-US" sz="1200" b="0">
                        <a:solidFill>
                          <a:srgbClr val="FFFFFF"/>
                        </a:solidFill>
                        <a:latin typeface="Arial"/>
                      </a:rPr>
                      <a:t>291 users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in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0.91</c:v>
                </c:pt>
                <c:pt idx="1">
                  <c:v>0.77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3 months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0.77</c:v>
                </c:pt>
                <c:pt idx="1">
                  <c:v>0.64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of 3 months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0.13</c:v>
                </c:pt>
                <c:pt idx="1">
                  <c:v>0.12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of 3 months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0.06</c:v>
                </c:pt>
                <c:pt idx="1">
                  <c:v>0.1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Never used</c:v>
                </c:pt>
              </c:strCache>
            </c:strRef>
          </c:tx>
          <c:spPr>
            <a:solidFill>
              <a:srgbClr val="DBDBD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0.04</c:v>
                </c:pt>
                <c:pt idx="1">
                  <c:v>0.14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&quot;$&quot;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&quot;$&quot;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39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&quot;$&quot;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50</c:v>
                </c:pt>
              </c:numCache>
            </c:numRef>
          </c:val>
        </c:ser>
        <c:dLbls>
          <c:numFmt formatCode="&quot;$&quot;0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&quot;M&quot;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&quot;M&quot;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31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&quot;M&quot;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63</c:v>
                </c:pt>
              </c:numCache>
            </c:numRef>
          </c:val>
        </c:ser>
        <c:dLbls>
          <c:numFmt formatCode="0&quot;M&quot;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 (% of spend)</c:v>
                </c:pt>
              </c:strCache>
            </c:strRef>
          </c:tx>
          <c:spPr>
            <a:solidFill>
              <a:srgbClr val="CC0033"/>
            </a:solidFill>
            <a:ln w="31750" cap="flat">
              <a:solidFill>
                <a:srgbClr val="CC0033"/>
              </a:solidFill>
              <a:prstDash val="solid"/>
              <a:round/>
            </a:ln>
            <a:effectLst/>
          </c:spPr>
          <c:invertIfNegative val="0"/>
          <c:dLbls>
            <c:dLbl>
              <c:idx val="4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200" b="1">
                        <a:solidFill>
                          <a:srgbClr val="CC0033"/>
                        </a:solidFill>
                        <a:latin typeface="Arial"/>
                      </a:rPr>
                      <a:t>68%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marker>
            <c:symbol val="none"/>
            <c:size val="6"/>
            <c:spPr>
              <a:solidFill>
                <a:srgbClr val="CC0033"/>
              </a:solidFill>
              <a:ln w="9525" cap="flat">
                <a:solidFill>
                  <a:srgbClr val="CC00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0%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20%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40%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60%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80%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100%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0.32899999999999996</c:v>
                </c:pt>
                <c:pt idx="2">
                  <c:v>0.48200000000000004</c:v>
                </c:pt>
                <c:pt idx="3">
                  <c:v>0.5920000000000001</c:v>
                </c:pt>
                <c:pt idx="4">
                  <c:v>0.68</c:v>
                </c:pt>
                <c:pt idx="5">
                  <c:v>0.743</c:v>
                </c:pt>
                <c:pt idx="6">
                  <c:v>0.792</c:v>
                </c:pt>
                <c:pt idx="7">
                  <c:v>0.8340000000000001</c:v>
                </c:pt>
                <c:pt idx="8">
                  <c:v>0.87</c:v>
                </c:pt>
                <c:pt idx="9">
                  <c:v>0.9009999999999999</c:v>
                </c:pt>
                <c:pt idx="10">
                  <c:v>0.9259999999999999</c:v>
                </c:pt>
                <c:pt idx="11">
                  <c:v>0.945</c:v>
                </c:pt>
                <c:pt idx="12">
                  <c:v>0.96</c:v>
                </c:pt>
                <c:pt idx="13">
                  <c:v>0.972</c:v>
                </c:pt>
                <c:pt idx="14">
                  <c:v>0.98</c:v>
                </c:pt>
                <c:pt idx="15">
                  <c:v>0.987</c:v>
                </c:pt>
                <c:pt idx="16">
                  <c:v>0.993</c:v>
                </c:pt>
                <c:pt idx="17">
                  <c:v>0.996</c:v>
                </c:pt>
                <c:pt idx="18">
                  <c:v>0.9990000000000001</c:v>
                </c:pt>
                <c:pt idx="19">
                  <c:v>1</c:v>
                </c:pt>
                <c:pt idx="20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ChatGPT (% of tokens)</c:v>
                </c:pt>
              </c:strCache>
            </c:strRef>
          </c:tx>
          <c:spPr>
            <a:solidFill>
              <a:srgbClr val="7F7F7F"/>
            </a:solidFill>
            <a:ln w="31750" cap="flat">
              <a:solidFill>
                <a:srgbClr val="7F7F7F"/>
              </a:solidFill>
              <a:prstDash val="solid"/>
              <a:round/>
            </a:ln>
            <a:effectLst/>
          </c:spPr>
          <c:invertIfNegative val="0"/>
          <c:dLbls>
            <c:dLbl>
              <c:idx val="4"/>
              <c:layout/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1200" b="1">
                        <a:solidFill>
                          <a:srgbClr val="7F7F7F"/>
                        </a:solidFill>
                        <a:latin typeface="Arial"/>
                      </a:rPr>
                      <a:t>76%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</c:dLbls>
          <c:marker>
            <c:symbol val="none"/>
            <c:size val="6"/>
            <c:spPr>
              <a:solidFill>
                <a:srgbClr val="7F7F7F"/>
              </a:solidFill>
              <a:ln w="9525" cap="flat">
                <a:solidFill>
                  <a:srgbClr val="7F7F7F"/>
                </a:solidFill>
                <a:prstDash val="solid"/>
                <a:round/>
              </a:ln>
              <a:effectLst/>
            </c:spPr>
          </c:marker>
          <c:errBars>
            <c:errDir val="y"/>
            <c:errBarType val="minus"/>
            <c:errValType val="cust"/>
            <c:noEndCap val="1"/>
            <c:plus>
              <c:numLit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Lit>
            </c:plus>
            <c:minus>
              <c:numLit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0.76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Lit>
            </c:minus>
            <c:spPr>
              <a:ln w="12700">
                <a:solidFill>
                  <a:srgbClr val="7F7F7F"/>
                </a:solidFill>
                <a:prstDash val="dash"/>
              </a:ln>
            </c:spPr>
          </c:errBars>
          <c:cat>
            <c:multiLvlStrRef>
              <c:f>Sheet1!$A$2:$A$22</c:f>
              <c:multiLvlStrCache>
                <c:ptCount val="21"/>
                <c:lvl>
                  <c:pt idx="0">
                    <c:v>0%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20%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40%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60%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80%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100%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</c:v>
                </c:pt>
                <c:pt idx="1">
                  <c:v>0.41600000000000004</c:v>
                </c:pt>
                <c:pt idx="2">
                  <c:v>0.581</c:v>
                </c:pt>
                <c:pt idx="3">
                  <c:v>0.687</c:v>
                </c:pt>
                <c:pt idx="4">
                  <c:v>0.7559999999999999</c:v>
                </c:pt>
                <c:pt idx="5">
                  <c:v>0.81</c:v>
                </c:pt>
                <c:pt idx="6">
                  <c:v>0.847</c:v>
                </c:pt>
                <c:pt idx="7">
                  <c:v>0.88</c:v>
                </c:pt>
                <c:pt idx="8">
                  <c:v>0.907</c:v>
                </c:pt>
                <c:pt idx="9">
                  <c:v>0.932</c:v>
                </c:pt>
                <c:pt idx="10">
                  <c:v>0.95</c:v>
                </c:pt>
                <c:pt idx="11">
                  <c:v>0.965</c:v>
                </c:pt>
                <c:pt idx="12">
                  <c:v>0.976</c:v>
                </c:pt>
                <c:pt idx="13">
                  <c:v>0.9840000000000001</c:v>
                </c:pt>
                <c:pt idx="14">
                  <c:v>0.99</c:v>
                </c:pt>
                <c:pt idx="15">
                  <c:v>0.9940000000000001</c:v>
                </c:pt>
                <c:pt idx="16">
                  <c:v>0.997</c:v>
                </c:pt>
                <c:pt idx="17">
                  <c:v>0.9990000000000001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ref68</c:v>
                </c:pt>
              </c:strCache>
            </c:strRef>
          </c:tx>
          <c:spPr>
            <a:ln w="12700" cap="flat">
              <a:solidFill>
                <a:srgbClr val="CC0033"/>
              </a:solidFill>
              <a:prstDash val="dash"/>
              <a:round/>
            </a:ln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C0033"/>
              </a:solidFill>
              <a:ln w="9525" cap="flat">
                <a:solidFill>
                  <a:srgbClr val="CC00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0%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20%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40%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60%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80%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100%</c:v>
                  </c:pt>
                </c:lvl>
              </c:multiLvlStrCache>
            </c:multiLvl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0.68</c:v>
                </c:pt>
                <c:pt idx="1">
                  <c:v>0.68</c:v>
                </c:pt>
                <c:pt idx="2">
                  <c:v>0.68</c:v>
                </c:pt>
                <c:pt idx="3">
                  <c:v>0.68</c:v>
                </c:pt>
                <c:pt idx="4">
                  <c:v>0.68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ref76</c:v>
                </c:pt>
              </c:strCache>
            </c:strRef>
          </c:tx>
          <c:spPr>
            <a:ln w="12700" cap="flat">
              <a:solidFill>
                <a:srgbClr val="7F7F7F"/>
              </a:solidFill>
              <a:prstDash val="dash"/>
              <a:round/>
            </a:ln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F7F7F"/>
              </a:solidFill>
              <a:ln w="9525" cap="flat">
                <a:solidFill>
                  <a:srgbClr val="7F7F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0%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20%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40%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60%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80%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100%</c:v>
                  </c:pt>
                </c:lvl>
              </c:multiLvlStrCache>
            </c:multiLvl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0.76</c:v>
                </c:pt>
                <c:pt idx="1">
                  <c:v>0.76</c:v>
                </c:pt>
                <c:pt idx="2">
                  <c:v>0.76</c:v>
                </c:pt>
                <c:pt idx="3">
                  <c:v>0.76</c:v>
                </c:pt>
                <c:pt idx="4">
                  <c:v>0.76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1200" b="0" i="0" u="none" strike="noStrike">
                    <a:solidFill>
                      <a:srgbClr val="666666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66666"/>
                    </a:solidFill>
                    <a:latin typeface="Arial"/>
                  </a:rPr>
                  <a:t>% of users, heaviest first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&quot;$&quot;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Heavy users</c:v>
                  </c:pt>
                  <c:pt idx="1">
                    <c:v>Light users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126</c:v>
                </c:pt>
                <c:pt idx="1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&quot;$&quot;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Heavy users</c:v>
                  </c:pt>
                  <c:pt idx="1">
                    <c:v>Light users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112</c:v>
                </c:pt>
                <c:pt idx="1">
                  <c:v>21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&quot;$&quot;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Heavy users</c:v>
                  </c:pt>
                  <c:pt idx="1">
                    <c:v>Light users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141</c:v>
                </c:pt>
                <c:pt idx="1">
                  <c:v>29</c:v>
                </c:pt>
              </c:numCache>
            </c:numRef>
          </c:val>
        </c:ser>
        <c:dLbls>
          <c:numFmt formatCode="&quot;$&quot;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&quot;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Heavy users</c:v>
                  </c:pt>
                  <c:pt idx="1">
                    <c:v>Light users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77</c:v>
                </c:pt>
                <c:pt idx="1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&quot;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Heavy users</c:v>
                  </c:pt>
                  <c:pt idx="1">
                    <c:v>Light users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101</c:v>
                </c:pt>
                <c:pt idx="1">
                  <c:v>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&quot;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Heavy users</c:v>
                  </c:pt>
                  <c:pt idx="1">
                    <c:v>Light users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165</c:v>
                </c:pt>
                <c:pt idx="1">
                  <c:v>36</c:v>
                </c:pt>
              </c:numCache>
            </c:numRef>
          </c:val>
        </c:ser>
        <c:dLbls>
          <c:numFmt formatCode="0&quot;M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6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.0&quot;¢&quot;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15.3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.0&quot;¢&quot;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11.7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.0&quot;¢&quot;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13</c:v>
                </c:pt>
              </c:numCache>
            </c:numRef>
          </c:val>
        </c:ser>
        <c:dLbls>
          <c:numFmt formatCode="0.0&quot;¢&quot;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numFmt formatCode="0&quot;¢&quot;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Higher-cost model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0.365</c:v>
                </c:pt>
                <c:pt idx="1">
                  <c:v>0.285</c:v>
                </c:pt>
                <c:pt idx="2">
                  <c:v>0.321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Sonnet 5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0.19</c:v>
                </c:pt>
                <c:pt idx="1">
                  <c:v>0.334</c:v>
                </c:pt>
                <c:pt idx="2">
                  <c:v>0.311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Sonnet 4.6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0.437</c:v>
                </c:pt>
                <c:pt idx="1">
                  <c:v>0.361</c:v>
                </c:pt>
                <c:pt idx="2">
                  <c:v>0.354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DBDBDB"/>
            </a:solidFill>
            <a:effectLst/>
          </c:spPr>
          <c:invertIfNegative val="0"/>
          <c:dLbls>
            <c:delete val="1"/>
          </c:dLbls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0.008</c:v>
                </c:pt>
                <c:pt idx="1">
                  <c:v>0.02</c:v>
                </c:pt>
                <c:pt idx="2">
                  <c:v>0.014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Claude-assigned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Membership</c:v>
                  </c:pt>
                  <c:pt idx="1">
                    <c:v>Marketing</c:v>
                  </c:pt>
                  <c:pt idx="2">
                    <c:v>Technology</c:v>
                  </c:pt>
                  <c:pt idx="3">
                    <c:v>Operations</c:v>
                  </c:pt>
                  <c:pt idx="4">
                    <c:v>Enterprise Analytics</c:v>
                  </c:pt>
                  <c:pt idx="5">
                    <c:v>Human Resources</c:v>
                  </c:pt>
                  <c:pt idx="6">
                    <c:v>Finance</c:v>
                  </c:pt>
                  <c:pt idx="7">
                    <c:v>Merchandising</c:v>
                  </c:pt>
                  <c:pt idx="8">
                    <c:v>Shared Services</c:v>
                  </c:pt>
                  <c:pt idx="9">
                    <c:v>Legal</c:v>
                  </c:pt>
                  <c:pt idx="10">
                    <c:v>Strategy &amp; Dev.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0.84</c:v>
                </c:pt>
                <c:pt idx="5">
                  <c:v>0</c:v>
                </c:pt>
                <c:pt idx="6">
                  <c:v>0.94</c:v>
                </c:pt>
                <c:pt idx="7">
                  <c:v>0.95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ChatGPT-assigned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Membership</c:v>
                  </c:pt>
                  <c:pt idx="1">
                    <c:v>Marketing</c:v>
                  </c:pt>
                  <c:pt idx="2">
                    <c:v>Technology</c:v>
                  </c:pt>
                  <c:pt idx="3">
                    <c:v>Operations</c:v>
                  </c:pt>
                  <c:pt idx="4">
                    <c:v>Enterprise Analytics</c:v>
                  </c:pt>
                  <c:pt idx="5">
                    <c:v>Human Resources</c:v>
                  </c:pt>
                  <c:pt idx="6">
                    <c:v>Finance</c:v>
                  </c:pt>
                  <c:pt idx="7">
                    <c:v>Merchandising</c:v>
                  </c:pt>
                  <c:pt idx="8">
                    <c:v>Shared Services</c:v>
                  </c:pt>
                  <c:pt idx="9">
                    <c:v>Legal</c:v>
                  </c:pt>
                  <c:pt idx="10">
                    <c:v>Strategy &amp; Dev.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0.73</c:v>
                </c:pt>
                <c:pt idx="1">
                  <c:v>0.78</c:v>
                </c:pt>
                <c:pt idx="2">
                  <c:v>0.83</c:v>
                </c:pt>
                <c:pt idx="3">
                  <c:v>0.84</c:v>
                </c:pt>
                <c:pt idx="4">
                  <c:v>0</c:v>
                </c:pt>
                <c:pt idx="5">
                  <c:v>0.9</c:v>
                </c:pt>
                <c:pt idx="6">
                  <c:v>0</c:v>
                </c:pt>
                <c:pt idx="7">
                  <c:v>0</c:v>
                </c:pt>
                <c:pt idx="8">
                  <c:v>0.95</c:v>
                </c:pt>
                <c:pt idx="9">
                  <c:v>0</c:v>
                </c:pt>
                <c:pt idx="10">
                  <c:v>1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numFmt formatCode="0%" sourceLinked="0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Champions</c:v>
                  </c:pt>
                  <c:pt idx="1">
                    <c:v>Connect users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635</c:v>
                </c:pt>
                <c:pt idx="1">
                  <c:v>239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Champions</c:v>
                  </c:pt>
                  <c:pt idx="1">
                    <c:v>Connect users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976</c:v>
                </c:pt>
                <c:pt idx="1">
                  <c:v>340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Champions</c:v>
                  </c:pt>
                  <c:pt idx="1">
                    <c:v>Connect users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1080</c:v>
                </c:pt>
                <c:pt idx="1">
                  <c:v>382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&quot;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Champions</c:v>
                  </c:pt>
                  <c:pt idx="1">
                    <c:v>Connect users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&quot;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Champions</c:v>
                  </c:pt>
                  <c:pt idx="1">
                    <c:v>Connect users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</c:v>
                </c:pt>
                <c:pt idx="1">
                  <c:v>31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&quot;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Champions</c:v>
                  </c:pt>
                  <c:pt idx="1">
                    <c:v>Connect users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125</c:v>
                </c:pt>
                <c:pt idx="1">
                  <c:v>63</c:v>
                </c:pt>
              </c:numCache>
            </c:numRef>
          </c:val>
        </c:ser>
        <c:dLbls>
          <c:numFmt formatCode="0&quot;M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numFmt formatCode="0&quot;M&quot;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0.85</c:v>
                </c:pt>
                <c:pt idx="1">
                  <c:v>0.58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August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0.88</c:v>
                </c:pt>
                <c:pt idx="1">
                  <c:v>0.61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Claude</c:v>
                  </c:pt>
                  <c:pt idx="1">
                    <c:v>ChatGPT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0.91</c:v>
                </c:pt>
                <c:pt idx="1">
                  <c:v>0.62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Analyze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[&lt;0.08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(262)</c:v>
                  </c:pt>
                  <c:pt idx="1">
                    <c:v>Merch. (53)</c:v>
                  </c:pt>
                  <c:pt idx="2">
                    <c:v>Analytics (45)</c:v>
                  </c:pt>
                  <c:pt idx="3">
                    <c:v>Technology (37)</c:v>
                  </c:pt>
                  <c:pt idx="4">
                    <c:v>Shared Services (33)</c:v>
                  </c:pt>
                  <c:pt idx="5">
                    <c:v>Finance (29)</c:v>
                  </c:pt>
                  <c:pt idx="6">
                    <c:v>Operations (18)</c:v>
                  </c:pt>
                  <c:pt idx="7">
                    <c:v>HR (16)</c:v>
                  </c:pt>
                  <c:pt idx="8">
                    <c:v>Marketing (9)</c:v>
                  </c:pt>
                  <c:pt idx="9">
                    <c:v>Membership (8)</c:v>
                  </c:pt>
                  <c:pt idx="10">
                    <c:v>Legal (7)</c:v>
                  </c:pt>
                  <c:pt idx="11">
                    <c:v>Strategy (7)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0.25572519083969464</c:v>
                </c:pt>
                <c:pt idx="1">
                  <c:v>0.2830188679245283</c:v>
                </c:pt>
                <c:pt idx="2">
                  <c:v>0.4444444444444444</c:v>
                </c:pt>
                <c:pt idx="3">
                  <c:v>0.10810810810810811</c:v>
                </c:pt>
                <c:pt idx="4">
                  <c:v>0.18181818181818182</c:v>
                </c:pt>
                <c:pt idx="5">
                  <c:v>0.13793103448275862</c:v>
                </c:pt>
                <c:pt idx="6">
                  <c:v>0.2777777777777778</c:v>
                </c:pt>
                <c:pt idx="7">
                  <c:v>0.0625</c:v>
                </c:pt>
                <c:pt idx="8">
                  <c:v>0.4444444444444444</c:v>
                </c:pt>
                <c:pt idx="9">
                  <c:v>0.375</c:v>
                </c:pt>
                <c:pt idx="10">
                  <c:v>0.2857142857142857</c:v>
                </c:pt>
                <c:pt idx="11">
                  <c:v>0.42857142857142855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Draft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[&lt;0.08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(262)</c:v>
                  </c:pt>
                  <c:pt idx="1">
                    <c:v>Merch. (53)</c:v>
                  </c:pt>
                  <c:pt idx="2">
                    <c:v>Analytics (45)</c:v>
                  </c:pt>
                  <c:pt idx="3">
                    <c:v>Technology (37)</c:v>
                  </c:pt>
                  <c:pt idx="4">
                    <c:v>Shared Services (33)</c:v>
                  </c:pt>
                  <c:pt idx="5">
                    <c:v>Finance (29)</c:v>
                  </c:pt>
                  <c:pt idx="6">
                    <c:v>Operations (18)</c:v>
                  </c:pt>
                  <c:pt idx="7">
                    <c:v>HR (16)</c:v>
                  </c:pt>
                  <c:pt idx="8">
                    <c:v>Marketing (9)</c:v>
                  </c:pt>
                  <c:pt idx="9">
                    <c:v>Membership (8)</c:v>
                  </c:pt>
                  <c:pt idx="10">
                    <c:v>Legal (7)</c:v>
                  </c:pt>
                  <c:pt idx="11">
                    <c:v>Strategy (7)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0.21374045801526717</c:v>
                </c:pt>
                <c:pt idx="1">
                  <c:v>0.18867924528301888</c:v>
                </c:pt>
                <c:pt idx="2">
                  <c:v>0.13333333333333333</c:v>
                </c:pt>
                <c:pt idx="3">
                  <c:v>0.1891891891891892</c:v>
                </c:pt>
                <c:pt idx="4">
                  <c:v>0.30303030303030304</c:v>
                </c:pt>
                <c:pt idx="5">
                  <c:v>0.1724137931034483</c:v>
                </c:pt>
                <c:pt idx="6">
                  <c:v>0.2777777777777778</c:v>
                </c:pt>
                <c:pt idx="7">
                  <c:v>0.4375</c:v>
                </c:pt>
                <c:pt idx="8">
                  <c:v>0.1111111111111111</c:v>
                </c:pt>
                <c:pt idx="9">
                  <c:v>0.25</c:v>
                </c:pt>
                <c:pt idx="10">
                  <c:v>0.42857142857142855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Summarize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[&lt;0.08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(262)</c:v>
                  </c:pt>
                  <c:pt idx="1">
                    <c:v>Merch. (53)</c:v>
                  </c:pt>
                  <c:pt idx="2">
                    <c:v>Analytics (45)</c:v>
                  </c:pt>
                  <c:pt idx="3">
                    <c:v>Technology (37)</c:v>
                  </c:pt>
                  <c:pt idx="4">
                    <c:v>Shared Services (33)</c:v>
                  </c:pt>
                  <c:pt idx="5">
                    <c:v>Finance (29)</c:v>
                  </c:pt>
                  <c:pt idx="6">
                    <c:v>Operations (18)</c:v>
                  </c:pt>
                  <c:pt idx="7">
                    <c:v>HR (16)</c:v>
                  </c:pt>
                  <c:pt idx="8">
                    <c:v>Marketing (9)</c:v>
                  </c:pt>
                  <c:pt idx="9">
                    <c:v>Membership (8)</c:v>
                  </c:pt>
                  <c:pt idx="10">
                    <c:v>Legal (7)</c:v>
                  </c:pt>
                  <c:pt idx="11">
                    <c:v>Strategy (7)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0.15648854961832062</c:v>
                </c:pt>
                <c:pt idx="1">
                  <c:v>0.1320754716981132</c:v>
                </c:pt>
                <c:pt idx="2">
                  <c:v>0.06666666666666667</c:v>
                </c:pt>
                <c:pt idx="3">
                  <c:v>0.2702702702702703</c:v>
                </c:pt>
                <c:pt idx="4">
                  <c:v>0.18181818181818182</c:v>
                </c:pt>
                <c:pt idx="5">
                  <c:v>0.10344827586206896</c:v>
                </c:pt>
                <c:pt idx="6">
                  <c:v>0.2222222222222222</c:v>
                </c:pt>
                <c:pt idx="7">
                  <c:v>0.125</c:v>
                </c:pt>
                <c:pt idx="8">
                  <c:v>0.1111111111111111</c:v>
                </c:pt>
                <c:pt idx="9">
                  <c:v>0.25</c:v>
                </c:pt>
                <c:pt idx="10">
                  <c:v>0</c:v>
                </c:pt>
                <c:pt idx="11">
                  <c:v>0.42857142857142855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Technical work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[&lt;0.08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(262)</c:v>
                  </c:pt>
                  <c:pt idx="1">
                    <c:v>Merch. (53)</c:v>
                  </c:pt>
                  <c:pt idx="2">
                    <c:v>Analytics (45)</c:v>
                  </c:pt>
                  <c:pt idx="3">
                    <c:v>Technology (37)</c:v>
                  </c:pt>
                  <c:pt idx="4">
                    <c:v>Shared Services (33)</c:v>
                  </c:pt>
                  <c:pt idx="5">
                    <c:v>Finance (29)</c:v>
                  </c:pt>
                  <c:pt idx="6">
                    <c:v>Operations (18)</c:v>
                  </c:pt>
                  <c:pt idx="7">
                    <c:v>HR (16)</c:v>
                  </c:pt>
                  <c:pt idx="8">
                    <c:v>Marketing (9)</c:v>
                  </c:pt>
                  <c:pt idx="9">
                    <c:v>Membership (8)</c:v>
                  </c:pt>
                  <c:pt idx="10">
                    <c:v>Legal (7)</c:v>
                  </c:pt>
                  <c:pt idx="11">
                    <c:v>Strategy (7)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0.1297709923664122</c:v>
                </c:pt>
                <c:pt idx="1">
                  <c:v>0.05660377358490566</c:v>
                </c:pt>
                <c:pt idx="2">
                  <c:v>0.2</c:v>
                </c:pt>
                <c:pt idx="3">
                  <c:v>0.2702702702702703</c:v>
                </c:pt>
                <c:pt idx="4">
                  <c:v>0.15151515151515152</c:v>
                </c:pt>
                <c:pt idx="5">
                  <c:v>0.13793103448275862</c:v>
                </c:pt>
                <c:pt idx="6">
                  <c:v>0.05555555555555555</c:v>
                </c:pt>
                <c:pt idx="7">
                  <c:v>0.0625</c:v>
                </c:pt>
                <c:pt idx="8">
                  <c:v>0.1111111111111111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DBDBDB"/>
            </a:solidFill>
            <a:effectLst/>
          </c:spPr>
          <c:invertIfNegative val="0"/>
          <c:dLbls>
            <c:numFmt formatCode="[&lt;0.08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(262)</c:v>
                  </c:pt>
                  <c:pt idx="1">
                    <c:v>Merch. (53)</c:v>
                  </c:pt>
                  <c:pt idx="2">
                    <c:v>Analytics (45)</c:v>
                  </c:pt>
                  <c:pt idx="3">
                    <c:v>Technology (37)</c:v>
                  </c:pt>
                  <c:pt idx="4">
                    <c:v>Shared Services (33)</c:v>
                  </c:pt>
                  <c:pt idx="5">
                    <c:v>Finance (29)</c:v>
                  </c:pt>
                  <c:pt idx="6">
                    <c:v>Operations (18)</c:v>
                  </c:pt>
                  <c:pt idx="7">
                    <c:v>HR (16)</c:v>
                  </c:pt>
                  <c:pt idx="8">
                    <c:v>Marketing (9)</c:v>
                  </c:pt>
                  <c:pt idx="9">
                    <c:v>Membership (8)</c:v>
                  </c:pt>
                  <c:pt idx="10">
                    <c:v>Legal (7)</c:v>
                  </c:pt>
                  <c:pt idx="11">
                    <c:v>Strategy (7)</c:v>
                  </c:pt>
                </c:lvl>
              </c:multiLvlStrCache>
            </c:multiLvl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0.24427480916030533</c:v>
                </c:pt>
                <c:pt idx="1">
                  <c:v>0.33962264150943394</c:v>
                </c:pt>
                <c:pt idx="2">
                  <c:v>0.15555555555555556</c:v>
                </c:pt>
                <c:pt idx="3">
                  <c:v>0.16216216216216217</c:v>
                </c:pt>
                <c:pt idx="4">
                  <c:v>0.18181818181818182</c:v>
                </c:pt>
                <c:pt idx="5">
                  <c:v>0.4482758620689655</c:v>
                </c:pt>
                <c:pt idx="6">
                  <c:v>0.16666666666666666</c:v>
                </c:pt>
                <c:pt idx="7">
                  <c:v>0.3125</c:v>
                </c:pt>
                <c:pt idx="8">
                  <c:v>0.2222222222222222</c:v>
                </c:pt>
                <c:pt idx="9">
                  <c:v>0.125</c:v>
                </c:pt>
                <c:pt idx="10">
                  <c:v>0.2857142857142857</c:v>
                </c:pt>
                <c:pt idx="11">
                  <c:v>0.14285714285714285</c:v>
                </c:pt>
              </c:numCache>
            </c:numRef>
          </c:val>
        </c:ser>
        <c:dLbls>
          <c:numFmt formatCode="[&lt;0.08]&quot;&quot;;0%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2"/>
          <c:y val="0.12"/>
          <c:w val="0.85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Daily</c:v>
                  </c:pt>
                  <c:pt idx="1">
                    <c:v>Weekly</c:v>
                  </c:pt>
                  <c:pt idx="2">
                    <c:v>Monthly</c:v>
                  </c:pt>
                  <c:pt idx="3">
                    <c:v>Quarterly</c:v>
                  </c:pt>
                  <c:pt idx="4">
                    <c:v>Ad hoc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0.13740458015267176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Weekly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Daily</c:v>
                  </c:pt>
                  <c:pt idx="1">
                    <c:v>Weekly</c:v>
                  </c:pt>
                  <c:pt idx="2">
                    <c:v>Monthly</c:v>
                  </c:pt>
                  <c:pt idx="3">
                    <c:v>Quarterly</c:v>
                  </c:pt>
                  <c:pt idx="4">
                    <c:v>Ad hoc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0.29770992366412213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Monthly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Daily</c:v>
                  </c:pt>
                  <c:pt idx="1">
                    <c:v>Weekly</c:v>
                  </c:pt>
                  <c:pt idx="2">
                    <c:v>Monthly</c:v>
                  </c:pt>
                  <c:pt idx="3">
                    <c:v>Quarterly</c:v>
                  </c:pt>
                  <c:pt idx="4">
                    <c:v>Ad hoc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0.17557251908396945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Quarterly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Daily</c:v>
                  </c:pt>
                  <c:pt idx="1">
                    <c:v>Weekly</c:v>
                  </c:pt>
                  <c:pt idx="2">
                    <c:v>Monthly</c:v>
                  </c:pt>
                  <c:pt idx="3">
                    <c:v>Quarterly</c:v>
                  </c:pt>
                  <c:pt idx="4">
                    <c:v>Ad hoc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0.08396946564885496</c:v>
                </c:pt>
                <c:pt idx="4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Ad hoc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Daily</c:v>
                  </c:pt>
                  <c:pt idx="1">
                    <c:v>Weekly</c:v>
                  </c:pt>
                  <c:pt idx="2">
                    <c:v>Monthly</c:v>
                  </c:pt>
                  <c:pt idx="3">
                    <c:v>Quarterly</c:v>
                  </c:pt>
                  <c:pt idx="4">
                    <c:v>Ad hoc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0.3053435114503817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Summarize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Analyze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23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Draft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22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Technical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Research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7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Review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5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Extract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Sheet1!$H$2:$H$10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4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Coach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Sheet1!$I$2:$I$10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3</c:v>
                </c:pt>
                <c:pt idx="8">
                  <c:v>0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Brainstorm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Analyze</c:v>
                  </c:pt>
                  <c:pt idx="2">
                    <c:v>Draft</c:v>
                  </c:pt>
                  <c:pt idx="3">
                    <c:v>Technical</c:v>
                  </c:pt>
                  <c:pt idx="4">
                    <c:v>Research</c:v>
                  </c:pt>
                  <c:pt idx="5">
                    <c:v>Review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Sheet1!$J$2:$J$10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-27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2"/>
          <c:y val="0.12"/>
          <c:w val="0.85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Saved prompt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Saved prompt</c:v>
                  </c:pt>
                  <c:pt idx="1">
                    <c:v>Skill</c:v>
                  </c:pt>
                  <c:pt idx="2">
                    <c:v>Claude Project</c:v>
                  </c:pt>
                  <c:pt idx="3">
                    <c:v>One-time prompt</c:v>
                  </c:pt>
                  <c:pt idx="4">
                    <c:v>Not classified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Skill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Saved prompt</c:v>
                  </c:pt>
                  <c:pt idx="1">
                    <c:v>Skill</c:v>
                  </c:pt>
                  <c:pt idx="2">
                    <c:v>Claude Project</c:v>
                  </c:pt>
                  <c:pt idx="3">
                    <c:v>One-time prompt</c:v>
                  </c:pt>
                  <c:pt idx="4">
                    <c:v>Not classified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24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Claude Project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Saved prompt</c:v>
                  </c:pt>
                  <c:pt idx="1">
                    <c:v>Skill</c:v>
                  </c:pt>
                  <c:pt idx="2">
                    <c:v>Claude Project</c:v>
                  </c:pt>
                  <c:pt idx="3">
                    <c:v>One-time prompt</c:v>
                  </c:pt>
                  <c:pt idx="4">
                    <c:v>Not classified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One-time prompt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Saved prompt</c:v>
                  </c:pt>
                  <c:pt idx="1">
                    <c:v>Skill</c:v>
                  </c:pt>
                  <c:pt idx="2">
                    <c:v>Claude Project</c:v>
                  </c:pt>
                  <c:pt idx="3">
                    <c:v>One-time prompt</c:v>
                  </c:pt>
                  <c:pt idx="4">
                    <c:v>Not classified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48</c:v>
                </c:pt>
                <c:pt idx="4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Not classified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Saved prompt</c:v>
                  </c:pt>
                  <c:pt idx="1">
                    <c:v>Skill</c:v>
                  </c:pt>
                  <c:pt idx="2">
                    <c:v>Claude Project</c:v>
                  </c:pt>
                  <c:pt idx="3">
                    <c:v>One-time prompt</c:v>
                  </c:pt>
                  <c:pt idx="4">
                    <c:v>Not classified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69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Analyze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39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Draft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28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Summarize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24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Technical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Review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13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Research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9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Extract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Sheet1!$H$2:$H$10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7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Coach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Sheet1!$I$2:$I$10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3</c:v>
                </c:pt>
                <c:pt idx="8">
                  <c:v>0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Brainstorm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Analyze</c:v>
                  </c:pt>
                  <c:pt idx="1">
                    <c:v>Draft</c:v>
                  </c:pt>
                  <c:pt idx="2">
                    <c:v>Summarize</c:v>
                  </c:pt>
                  <c:pt idx="3">
                    <c:v>Technical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Extract</c:v>
                  </c:pt>
                  <c:pt idx="7">
                    <c:v>Coach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Sheet1!$J$2:$J$10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-27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Summarize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Draft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1627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Technical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1087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Analyze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993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Review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360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Research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275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Coach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Sheet1!$H$2:$H$10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241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Extract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Sheet1!$I$2:$I$10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126</c:v>
                </c:pt>
                <c:pt idx="8">
                  <c:v>0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Brainstorm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Summarize</c:v>
                  </c:pt>
                  <c:pt idx="1">
                    <c:v>Draft</c:v>
                  </c:pt>
                  <c:pt idx="2">
                    <c:v>Technical</c:v>
                  </c:pt>
                  <c:pt idx="3">
                    <c:v>Analyze</c:v>
                  </c:pt>
                  <c:pt idx="4">
                    <c:v>Review</c:v>
                  </c:pt>
                  <c:pt idx="5">
                    <c:v>Research</c:v>
                  </c:pt>
                  <c:pt idx="6">
                    <c:v>Coach</c:v>
                  </c:pt>
                  <c:pt idx="7">
                    <c:v>Extract</c:v>
                  </c:pt>
                  <c:pt idx="8">
                    <c:v>Brainstorm</c:v>
                  </c:pt>
                </c:lvl>
              </c:multiLvlStrCache>
            </c:multiLvlStrRef>
          </c:cat>
          <c:val>
            <c:numRef>
              <c:f>Sheet1!$J$2:$J$10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44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-27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5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Top 5</c:v>
                  </c:pt>
                  <c:pt idx="1">
                    <c:v>Top 20</c:v>
                  </c:pt>
                  <c:pt idx="2">
                    <c:v>All 117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0.23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 20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Top 5</c:v>
                  </c:pt>
                  <c:pt idx="1">
                    <c:v>Top 20</c:v>
                  </c:pt>
                  <c:pt idx="2">
                    <c:v>All 117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0.57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All 117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Top 5</c:v>
                  </c:pt>
                  <c:pt idx="1">
                    <c:v>Top 20</c:v>
                  </c:pt>
                  <c:pt idx="2">
                    <c:v>All 117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45"/>
          <c:y val="0.03"/>
          <c:w val="0.95"/>
          <c:h val="0.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&amp; analysis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0.3020833333333333</c:v>
                </c:pt>
                <c:pt idx="1">
                  <c:v>0.17857142857142858</c:v>
                </c:pt>
                <c:pt idx="2">
                  <c:v>0.5</c:v>
                </c:pt>
                <c:pt idx="3">
                  <c:v>0.3333333333333333</c:v>
                </c:pt>
                <c:pt idx="4">
                  <c:v>0.6666666666666666</c:v>
                </c:pt>
                <c:pt idx="5">
                  <c:v>0.3333333333333333</c:v>
                </c:pt>
                <c:pt idx="6">
                  <c:v>0.16666666666666666</c:v>
                </c:pt>
                <c:pt idx="7">
                  <c:v>0.16666666666666666</c:v>
                </c:pt>
                <c:pt idx="8">
                  <c:v>0</c:v>
                </c:pt>
                <c:pt idx="9">
                  <c:v>0.25</c:v>
                </c:pt>
                <c:pt idx="10">
                  <c:v>0.75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Summarizing</c:v>
                </c:pt>
              </c:strCache>
            </c:strRef>
          </c:tx>
          <c:spPr>
            <a:solidFill>
              <a:srgbClr val="666666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0.13541666666666666</c:v>
                </c:pt>
                <c:pt idx="1">
                  <c:v>0.21428571428571427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0.16666666666666666</c:v>
                </c:pt>
                <c:pt idx="6">
                  <c:v>0.3333333333333333</c:v>
                </c:pt>
                <c:pt idx="7">
                  <c:v>0</c:v>
                </c:pt>
                <c:pt idx="8">
                  <c:v>0.6</c:v>
                </c:pt>
                <c:pt idx="9">
                  <c:v>0.25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Content creation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0.11458333333333333</c:v>
                </c:pt>
                <c:pt idx="1">
                  <c:v>0.03571428571428571</c:v>
                </c:pt>
                <c:pt idx="2">
                  <c:v>0.125</c:v>
                </c:pt>
                <c:pt idx="3">
                  <c:v>0.08333333333333333</c:v>
                </c:pt>
                <c:pt idx="4">
                  <c:v>0.16666666666666666</c:v>
                </c:pt>
                <c:pt idx="5">
                  <c:v>0.3333333333333333</c:v>
                </c:pt>
                <c:pt idx="6">
                  <c:v>0.16666666666666666</c:v>
                </c:pt>
                <c:pt idx="7">
                  <c:v>0.3333333333333333</c:v>
                </c:pt>
                <c:pt idx="8">
                  <c:v>0</c:v>
                </c:pt>
                <c:pt idx="9">
                  <c:v>0.25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Structuring information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0.10416666666666667</c:v>
                </c:pt>
                <c:pt idx="1">
                  <c:v>0.07142857142857142</c:v>
                </c:pt>
                <c:pt idx="2">
                  <c:v>0</c:v>
                </c:pt>
                <c:pt idx="3">
                  <c:v>0.25</c:v>
                </c:pt>
                <c:pt idx="4">
                  <c:v>0</c:v>
                </c:pt>
                <c:pt idx="5">
                  <c:v>0.16666666666666666</c:v>
                </c:pt>
                <c:pt idx="6">
                  <c:v>0.16666666666666666</c:v>
                </c:pt>
                <c:pt idx="7">
                  <c:v>0.5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Visual concepting</c:v>
                </c:pt>
              </c:strCache>
            </c:strRef>
          </c:tx>
          <c:spPr>
            <a:solidFill>
              <a:srgbClr val="1B75BC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0.09375</c:v>
                </c:pt>
                <c:pt idx="1">
                  <c:v>0.14285714285714285</c:v>
                </c:pt>
                <c:pt idx="2">
                  <c:v>0.0625</c:v>
                </c:pt>
                <c:pt idx="3">
                  <c:v>0.08333333333333333</c:v>
                </c:pt>
                <c:pt idx="4">
                  <c:v>0</c:v>
                </c:pt>
                <c:pt idx="5">
                  <c:v>0</c:v>
                </c:pt>
                <c:pt idx="6">
                  <c:v>0.16666666666666666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0.6666666666666666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Research and synthesis</c:v>
                </c:pt>
              </c:strCache>
            </c:strRef>
          </c:tx>
          <c:spPr>
            <a:solidFill>
              <a:srgbClr val="CE9B41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0.08333333333333333</c:v>
                </c:pt>
                <c:pt idx="1">
                  <c:v>0.14285714285714285</c:v>
                </c:pt>
                <c:pt idx="2">
                  <c:v>0.0625</c:v>
                </c:pt>
                <c:pt idx="3">
                  <c:v>0.08333333333333333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0.2</c:v>
                </c:pt>
                <c:pt idx="9">
                  <c:v>0</c:v>
                </c:pt>
                <c:pt idx="10">
                  <c:v>0.25</c:v>
                </c:pt>
                <c:pt idx="11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Code and formulas</c:v>
                </c:pt>
              </c:strCache>
            </c:strRef>
          </c:tx>
          <c:spPr>
            <a:solidFill>
              <a:srgbClr val="8FBCE6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Sheet1!$H$2:$H$13</c:f>
              <c:numCache>
                <c:formatCode>General</c:formatCode>
                <c:ptCount val="12"/>
                <c:pt idx="0">
                  <c:v>0.07291666666666667</c:v>
                </c:pt>
                <c:pt idx="1">
                  <c:v>0.10714285714285714</c:v>
                </c:pt>
                <c:pt idx="2">
                  <c:v>0.125</c:v>
                </c:pt>
                <c:pt idx="3">
                  <c:v>0</c:v>
                </c:pt>
                <c:pt idx="4">
                  <c:v>0.16666666666666666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0.3333333333333333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Brainstorming</c:v>
                </c:pt>
              </c:strCache>
            </c:strRef>
          </c:tx>
          <c:spPr>
            <a:solidFill>
              <a:srgbClr val="E8D3A9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Sheet1!$I$2:$I$13</c:f>
              <c:numCache>
                <c:formatCode>General</c:formatCode>
                <c:ptCount val="12"/>
                <c:pt idx="0">
                  <c:v>0.052083333333333336</c:v>
                </c:pt>
                <c:pt idx="1">
                  <c:v>0.03571428571428571</c:v>
                </c:pt>
                <c:pt idx="2">
                  <c:v>0.125</c:v>
                </c:pt>
                <c:pt idx="3">
                  <c:v>0.16666666666666666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DBDBDB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Sheet1!$J$2:$J$13</c:f>
              <c:numCache>
                <c:formatCode>General</c:formatCode>
                <c:ptCount val="12"/>
                <c:pt idx="0">
                  <c:v>0.041666666666666664</c:v>
                </c:pt>
                <c:pt idx="1">
                  <c:v>0.07142857142857142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0.2</c:v>
                </c:pt>
                <c:pt idx="9">
                  <c:v>0.25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Output quality</c:v>
                  </c:pt>
                  <c:pt idx="1">
                    <c:v>Instruction-following</c:v>
                  </c:pt>
                  <c:pt idx="2">
                    <c:v>Clarity and tone</c:v>
                  </c:pt>
                  <c:pt idx="3">
                    <c:v>Prompt effort</c:v>
                  </c:pt>
                  <c:pt idx="4">
                    <c:v>Time saved</c:v>
                  </c:pt>
                  <c:pt idx="5">
                    <c:v>Trust and accuracy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3.81</c:v>
                </c:pt>
                <c:pt idx="1">
                  <c:v>4.04</c:v>
                </c:pt>
                <c:pt idx="2">
                  <c:v>3.92</c:v>
                </c:pt>
                <c:pt idx="3">
                  <c:v>3.73</c:v>
                </c:pt>
                <c:pt idx="4">
                  <c:v>3.88</c:v>
                </c:pt>
                <c:pt idx="5">
                  <c:v>3.85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Output quality</c:v>
                  </c:pt>
                  <c:pt idx="1">
                    <c:v>Instruction-following</c:v>
                  </c:pt>
                  <c:pt idx="2">
                    <c:v>Clarity and tone</c:v>
                  </c:pt>
                  <c:pt idx="3">
                    <c:v>Prompt effort</c:v>
                  </c:pt>
                  <c:pt idx="4">
                    <c:v>Time saved</c:v>
                  </c:pt>
                  <c:pt idx="5">
                    <c:v>Trust and accuracy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3.99</c:v>
                </c:pt>
                <c:pt idx="1">
                  <c:v>4.2</c:v>
                </c:pt>
                <c:pt idx="2">
                  <c:v>4.18</c:v>
                </c:pt>
                <c:pt idx="3">
                  <c:v>3.93</c:v>
                </c:pt>
                <c:pt idx="4">
                  <c:v>4.01</c:v>
                </c:pt>
                <c:pt idx="5">
                  <c:v>4.11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4"/>
          <c:min val="3"/>
        </c:scaling>
        <c:delete val="0"/>
        <c:axPos val="l"/>
        <c:numFmt formatCode="0.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Other
(4)</c:v>
                  </c:pt>
                  <c:pt idx="1">
                    <c:v>Code and
formulas
(7)</c:v>
                  </c:pt>
                  <c:pt idx="2">
                    <c:v>Brainstorming
(5)</c:v>
                  </c:pt>
                  <c:pt idx="3">
                    <c:v>Summarizing
(13)</c:v>
                  </c:pt>
                  <c:pt idx="4">
                    <c:v>Data &amp;
analysis
(28)</c:v>
                  </c:pt>
                  <c:pt idx="5">
                    <c:v>Research
and
synthesis
(8)</c:v>
                  </c:pt>
                  <c:pt idx="6">
                    <c:v>Structuring
information
(9)</c:v>
                  </c:pt>
                  <c:pt idx="7">
                    <c:v>Visual
concepting
&amp; mockups
(9)</c:v>
                  </c:pt>
                  <c:pt idx="8">
                    <c:v>Content
creation
(11)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0.71</c:v>
                </c:pt>
                <c:pt idx="2">
                  <c:v>0.6</c:v>
                </c:pt>
                <c:pt idx="3">
                  <c:v>0.62</c:v>
                </c:pt>
                <c:pt idx="4">
                  <c:v>0.54</c:v>
                </c:pt>
                <c:pt idx="5">
                  <c:v>0.5</c:v>
                </c:pt>
                <c:pt idx="6">
                  <c:v>0.44</c:v>
                </c:pt>
                <c:pt idx="7">
                  <c:v>0.44</c:v>
                </c:pt>
                <c:pt idx="8">
                  <c:v>0.36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Tied</c:v>
                </c:pt>
              </c:strCache>
            </c:strRef>
          </c:tx>
          <c:spPr>
            <a:solidFill>
              <a:srgbClr val="DBDBDB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Other
(4)</c:v>
                  </c:pt>
                  <c:pt idx="1">
                    <c:v>Code and
formulas
(7)</c:v>
                  </c:pt>
                  <c:pt idx="2">
                    <c:v>Brainstorming
(5)</c:v>
                  </c:pt>
                  <c:pt idx="3">
                    <c:v>Summarizing
(13)</c:v>
                  </c:pt>
                  <c:pt idx="4">
                    <c:v>Data &amp;
analysis
(28)</c:v>
                  </c:pt>
                  <c:pt idx="5">
                    <c:v>Research
and
synthesis
(8)</c:v>
                  </c:pt>
                  <c:pt idx="6">
                    <c:v>Structuring
information
(9)</c:v>
                  </c:pt>
                  <c:pt idx="7">
                    <c:v>Visual
concepting
&amp; mockups
(9)</c:v>
                  </c:pt>
                  <c:pt idx="8">
                    <c:v>Content
creation
(11)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0.08</c:v>
                </c:pt>
                <c:pt idx="4">
                  <c:v>0.21</c:v>
                </c:pt>
                <c:pt idx="5">
                  <c:v>0.13</c:v>
                </c:pt>
                <c:pt idx="6">
                  <c:v>0.22</c:v>
                </c:pt>
                <c:pt idx="7">
                  <c:v>0.12</c:v>
                </c:pt>
                <c:pt idx="8">
                  <c:v>0.09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Other
(4)</c:v>
                  </c:pt>
                  <c:pt idx="1">
                    <c:v>Code and
formulas
(7)</c:v>
                  </c:pt>
                  <c:pt idx="2">
                    <c:v>Brainstorming
(5)</c:v>
                  </c:pt>
                  <c:pt idx="3">
                    <c:v>Summarizing
(13)</c:v>
                  </c:pt>
                  <c:pt idx="4">
                    <c:v>Data &amp;
analysis
(28)</c:v>
                  </c:pt>
                  <c:pt idx="5">
                    <c:v>Research
and
synthesis
(8)</c:v>
                  </c:pt>
                  <c:pt idx="6">
                    <c:v>Structuring
information
(9)</c:v>
                  </c:pt>
                  <c:pt idx="7">
                    <c:v>Visual
concepting
&amp; mockups
(9)</c:v>
                  </c:pt>
                  <c:pt idx="8">
                    <c:v>Content
creation
(11)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0.29</c:v>
                </c:pt>
                <c:pt idx="2">
                  <c:v>0.2</c:v>
                </c:pt>
                <c:pt idx="3">
                  <c:v>0.31</c:v>
                </c:pt>
                <c:pt idx="4">
                  <c:v>0.25</c:v>
                </c:pt>
                <c:pt idx="5">
                  <c:v>0.37</c:v>
                </c:pt>
                <c:pt idx="6">
                  <c:v>0.34</c:v>
                </c:pt>
                <c:pt idx="7">
                  <c:v>0.44</c:v>
                </c:pt>
                <c:pt idx="8">
                  <c:v>0.55</c:v>
                </c:pt>
              </c:numCache>
            </c:numRef>
          </c:val>
        </c:ser>
        <c:dLbls>
          <c:numFmt formatCode="[&lt;0.07]&quot;&quot;;0%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(94)</c:v>
                  </c:pt>
                  <c:pt idx="1">
                    <c:v>Finance
(6)</c:v>
                  </c:pt>
                  <c:pt idx="2">
                    <c:v>Strategy
(5)</c:v>
                  </c:pt>
                  <c:pt idx="3">
                    <c:v>Legal
(4)</c:v>
                  </c:pt>
                  <c:pt idx="4">
                    <c:v>HR
(3)</c:v>
                  </c:pt>
                  <c:pt idx="5">
                    <c:v>Membership
(5)</c:v>
                  </c:pt>
                  <c:pt idx="6">
                    <c:v>Technology
(28)</c:v>
                  </c:pt>
                  <c:pt idx="7">
                    <c:v>Analytics
(16)</c:v>
                  </c:pt>
                  <c:pt idx="8">
                    <c:v>Operations
(6)</c:v>
                  </c:pt>
                  <c:pt idx="9">
                    <c:v>Shared
Services
(6)</c:v>
                  </c:pt>
                  <c:pt idx="10">
                    <c:v>Merchandising
(11)</c:v>
                  </c:pt>
                  <c:pt idx="11">
                    <c:v>Marketing
(4)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0.54</c:v>
                </c:pt>
                <c:pt idx="1">
                  <c:v>1</c:v>
                </c:pt>
                <c:pt idx="2">
                  <c:v>1</c:v>
                </c:pt>
                <c:pt idx="3">
                  <c:v>0.75</c:v>
                </c:pt>
                <c:pt idx="4">
                  <c:v>0.67</c:v>
                </c:pt>
                <c:pt idx="5">
                  <c:v>0.6</c:v>
                </c:pt>
                <c:pt idx="6">
                  <c:v>0.54</c:v>
                </c:pt>
                <c:pt idx="7">
                  <c:v>0.5</c:v>
                </c:pt>
                <c:pt idx="8">
                  <c:v>0.5</c:v>
                </c:pt>
                <c:pt idx="9">
                  <c:v>0.33</c:v>
                </c:pt>
                <c:pt idx="10">
                  <c:v>0.27</c:v>
                </c:pt>
                <c:pt idx="11">
                  <c:v>0.25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Tied</c:v>
                </c:pt>
              </c:strCache>
            </c:strRef>
          </c:tx>
          <c:spPr>
            <a:solidFill>
              <a:srgbClr val="DBDBDB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(94)</c:v>
                  </c:pt>
                  <c:pt idx="1">
                    <c:v>Finance
(6)</c:v>
                  </c:pt>
                  <c:pt idx="2">
                    <c:v>Strategy
(5)</c:v>
                  </c:pt>
                  <c:pt idx="3">
                    <c:v>Legal
(4)</c:v>
                  </c:pt>
                  <c:pt idx="4">
                    <c:v>HR
(3)</c:v>
                  </c:pt>
                  <c:pt idx="5">
                    <c:v>Membership
(5)</c:v>
                  </c:pt>
                  <c:pt idx="6">
                    <c:v>Technology
(28)</c:v>
                  </c:pt>
                  <c:pt idx="7">
                    <c:v>Analytics
(16)</c:v>
                  </c:pt>
                  <c:pt idx="8">
                    <c:v>Operations
(6)</c:v>
                  </c:pt>
                  <c:pt idx="9">
                    <c:v>Shared
Services
(6)</c:v>
                  </c:pt>
                  <c:pt idx="10">
                    <c:v>Merchandising
(11)</c:v>
                  </c:pt>
                  <c:pt idx="11">
                    <c:v>Marketing
(4)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0.14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0.2</c:v>
                </c:pt>
                <c:pt idx="6">
                  <c:v>0.07</c:v>
                </c:pt>
                <c:pt idx="7">
                  <c:v>0.19</c:v>
                </c:pt>
                <c:pt idx="8">
                  <c:v>0.17</c:v>
                </c:pt>
                <c:pt idx="9">
                  <c:v>0.17</c:v>
                </c:pt>
                <c:pt idx="10">
                  <c:v>0.27</c:v>
                </c:pt>
                <c:pt idx="11">
                  <c:v>0.5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(94)</c:v>
                  </c:pt>
                  <c:pt idx="1">
                    <c:v>Finance
(6)</c:v>
                  </c:pt>
                  <c:pt idx="2">
                    <c:v>Strategy
(5)</c:v>
                  </c:pt>
                  <c:pt idx="3">
                    <c:v>Legal
(4)</c:v>
                  </c:pt>
                  <c:pt idx="4">
                    <c:v>HR
(3)</c:v>
                  </c:pt>
                  <c:pt idx="5">
                    <c:v>Membership
(5)</c:v>
                  </c:pt>
                  <c:pt idx="6">
                    <c:v>Technology
(28)</c:v>
                  </c:pt>
                  <c:pt idx="7">
                    <c:v>Analytics
(16)</c:v>
                  </c:pt>
                  <c:pt idx="8">
                    <c:v>Operations
(6)</c:v>
                  </c:pt>
                  <c:pt idx="9">
                    <c:v>Shared
Services
(6)</c:v>
                  </c:pt>
                  <c:pt idx="10">
                    <c:v>Merchandising
(11)</c:v>
                  </c:pt>
                  <c:pt idx="11">
                    <c:v>Marketing
(4)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0.32</c:v>
                </c:pt>
                <c:pt idx="1">
                  <c:v>0</c:v>
                </c:pt>
                <c:pt idx="2">
                  <c:v>0</c:v>
                </c:pt>
                <c:pt idx="3">
                  <c:v>0.25</c:v>
                </c:pt>
                <c:pt idx="4">
                  <c:v>0.33</c:v>
                </c:pt>
                <c:pt idx="5">
                  <c:v>0.2</c:v>
                </c:pt>
                <c:pt idx="6">
                  <c:v>0.39</c:v>
                </c:pt>
                <c:pt idx="7">
                  <c:v>0.31</c:v>
                </c:pt>
                <c:pt idx="8">
                  <c:v>0.33</c:v>
                </c:pt>
                <c:pt idx="9">
                  <c:v>0.5</c:v>
                </c:pt>
                <c:pt idx="10">
                  <c:v>0.46</c:v>
                </c:pt>
                <c:pt idx="11">
                  <c:v>0.25</c:v>
                </c:pt>
              </c:numCache>
            </c:numRef>
          </c:val>
        </c:ser>
        <c:dLbls>
          <c:numFmt formatCode="[&lt;0.07]&quot;&quot;;0%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(34)</c:v>
                  </c:pt>
                  <c:pt idx="1">
                    <c:v>Technology
(9)</c:v>
                  </c:pt>
                  <c:pt idx="2">
                    <c:v>Analytics
(4)</c:v>
                  </c:pt>
                  <c:pt idx="3">
                    <c:v>Merchandising
(4)</c:v>
                  </c:pt>
                  <c:pt idx="4">
                    <c:v>Marketing
(3)</c:v>
                  </c:pt>
                  <c:pt idx="5">
                    <c:v>Finance
(2)</c:v>
                  </c:pt>
                  <c:pt idx="6">
                    <c:v>Strategy
(2)</c:v>
                  </c:pt>
                  <c:pt idx="7">
                    <c:v>Legal
(2)</c:v>
                  </c:pt>
                  <c:pt idx="8">
                    <c:v>Membership
(2)</c:v>
                  </c:pt>
                  <c:pt idx="9">
                    <c:v>HR
(2)</c:v>
                  </c:pt>
                  <c:pt idx="10">
                    <c:v>Operations
(2)</c:v>
                  </c:pt>
                  <c:pt idx="11">
                    <c:v>Shared
Services
(2)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</c:v>
                </c:pt>
                <c:pt idx="1">
                  <c:v>5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(34)</c:v>
                  </c:pt>
                  <c:pt idx="1">
                    <c:v>Technology
(9)</c:v>
                  </c:pt>
                  <c:pt idx="2">
                    <c:v>Analytics
(4)</c:v>
                  </c:pt>
                  <c:pt idx="3">
                    <c:v>Merchandising
(4)</c:v>
                  </c:pt>
                  <c:pt idx="4">
                    <c:v>Marketing
(3)</c:v>
                  </c:pt>
                  <c:pt idx="5">
                    <c:v>Finance
(2)</c:v>
                  </c:pt>
                  <c:pt idx="6">
                    <c:v>Strategy
(2)</c:v>
                  </c:pt>
                  <c:pt idx="7">
                    <c:v>Legal
(2)</c:v>
                  </c:pt>
                  <c:pt idx="8">
                    <c:v>Membership
(2)</c:v>
                  </c:pt>
                  <c:pt idx="9">
                    <c:v>HR
(2)</c:v>
                  </c:pt>
                  <c:pt idx="10">
                    <c:v>Operations
(2)</c:v>
                  </c:pt>
                  <c:pt idx="11">
                    <c:v>Shared
Services
(2)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Both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(34)</c:v>
                  </c:pt>
                  <c:pt idx="1">
                    <c:v>Technology
(9)</c:v>
                  </c:pt>
                  <c:pt idx="2">
                    <c:v>Analytics
(4)</c:v>
                  </c:pt>
                  <c:pt idx="3">
                    <c:v>Merchandising
(4)</c:v>
                  </c:pt>
                  <c:pt idx="4">
                    <c:v>Marketing
(3)</c:v>
                  </c:pt>
                  <c:pt idx="5">
                    <c:v>Finance
(2)</c:v>
                  </c:pt>
                  <c:pt idx="6">
                    <c:v>Strategy
(2)</c:v>
                  </c:pt>
                  <c:pt idx="7">
                    <c:v>Legal
(2)</c:v>
                  </c:pt>
                  <c:pt idx="8">
                    <c:v>Membership
(2)</c:v>
                  </c:pt>
                  <c:pt idx="9">
                    <c:v>HR
(2)</c:v>
                  </c:pt>
                  <c:pt idx="10">
                    <c:v>Operations
(2)</c:v>
                  </c:pt>
                  <c:pt idx="11">
                    <c:v>Shared
Services
(2)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</c:v>
                </c:pt>
                <c:pt idx="11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Depends on the task</c:v>
                </c:pt>
              </c:strCache>
            </c:strRef>
          </c:tx>
          <c:spPr>
            <a:solidFill>
              <a:srgbClr val="1B75BC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(34)</c:v>
                  </c:pt>
                  <c:pt idx="1">
                    <c:v>Technology
(9)</c:v>
                  </c:pt>
                  <c:pt idx="2">
                    <c:v>Analytics
(4)</c:v>
                  </c:pt>
                  <c:pt idx="3">
                    <c:v>Merchandising
(4)</c:v>
                  </c:pt>
                  <c:pt idx="4">
                    <c:v>Marketing
(3)</c:v>
                  </c:pt>
                  <c:pt idx="5">
                    <c:v>Finance
(2)</c:v>
                  </c:pt>
                  <c:pt idx="6">
                    <c:v>Strategy
(2)</c:v>
                  </c:pt>
                  <c:pt idx="7">
                    <c:v>Legal
(2)</c:v>
                  </c:pt>
                  <c:pt idx="8">
                    <c:v>Membership
(2)</c:v>
                  </c:pt>
                  <c:pt idx="9">
                    <c:v>HR
(2)</c:v>
                  </c:pt>
                  <c:pt idx="10">
                    <c:v>Operations
(2)</c:v>
                  </c:pt>
                  <c:pt idx="11">
                    <c:v>Shared
Services
(2)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5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 preference</c:v>
                </c:pt>
              </c:strCache>
            </c:strRef>
          </c:tx>
          <c:spPr>
            <a:solidFill>
              <a:srgbClr val="DBDBDB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(34)</c:v>
                  </c:pt>
                  <c:pt idx="1">
                    <c:v>Technology
(9)</c:v>
                  </c:pt>
                  <c:pt idx="2">
                    <c:v>Analytics
(4)</c:v>
                  </c:pt>
                  <c:pt idx="3">
                    <c:v>Merchandising
(4)</c:v>
                  </c:pt>
                  <c:pt idx="4">
                    <c:v>Marketing
(3)</c:v>
                  </c:pt>
                  <c:pt idx="5">
                    <c:v>Finance
(2)</c:v>
                  </c:pt>
                  <c:pt idx="6">
                    <c:v>Strategy
(2)</c:v>
                  </c:pt>
                  <c:pt idx="7">
                    <c:v>Legal
(2)</c:v>
                  </c:pt>
                  <c:pt idx="8">
                    <c:v>Membership
(2)</c:v>
                  </c:pt>
                  <c:pt idx="9">
                    <c:v>HR
(2)</c:v>
                  </c:pt>
                  <c:pt idx="10">
                    <c:v>Operations
(2)</c:v>
                  </c:pt>
                  <c:pt idx="11">
                    <c:v>Shared
Services
(2)</c:v>
                  </c:pt>
                </c:lvl>
              </c:multiLvlStrCache>
            </c:multiLvl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7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hyperlink" Target="https://www.bcg.com/publications/2026/ai-at-work-why-strategy-matters-more-than-tools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chart" Target="/ppt/charts/chart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chart" Target="/ppt/charts/chart1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chart" Target="/ppt/charts/chart2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engagement is broad, sustained, and growing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summary: AI pilot engagement results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44168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32588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is broad and rose every month of the pilot.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636776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 of Claude and 77% of ChatGPT license holders were active in September, and every department is above 70%.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2002536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12264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093976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users stayed active every month of the pilot.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40487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 of Claude and 64% of ChatGPT users were active in all three months.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0120" y="2770632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80360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862072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are using AI more each month.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172968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July, spend per active Claude user is up 37%, and ChatGPT tokens per active user have more than tripled.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0120" y="3538728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648456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630168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is spreading beyond the heaviest users.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3941064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20% of users still account for about 70% of use, but light users are the fastest-growing group on both tools.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0120" y="4306824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416552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576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4398264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are experimenting far more than Connect users.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470916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September, Champions used Claude 2.8 times and ChatGPT 2 times as much as Connect users.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60120" y="5074920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5184648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57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516636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spend is growing with use, while each request costs less than at launch.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5477256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request is 15% below July, though it rose 11% in September; </a:t>
            </a:r>
            <a:pPr indent="0" marL="0">
              <a:buNone/>
            </a:pPr>
            <a:r>
              <a:rPr lang="en-US" sz="1400" i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[total spend trend to come]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users in 11 departments, excluding Exec, July to September 2026.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kept rising month over month through the pilot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 as % of license holders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 rose on both tools even as departures reduced the number of license holders.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people not yet active hold ChatGPT licenses (87 of 113).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reference, 74% of frontline employees globally report using AI daily or weekly (BCG, June 2026).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holders, net of departures (July, August, September): Claude 301, 298, 289; ChatGPT 399, 391, 378.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users: team members other than Champions with a Claude and/or ChatGPT license as of July 2026; 11 departments, excluding Exec.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Benchmark: </a:t>
            </a:r>
            <a:r>
              <a:rPr lang="en-US" sz="1200" u="sng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BCG, AI at Work, June 2026</a:t>
            </a: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(about 12,000 employees, 12+ countries); self-reported use of any AI tool, not licensed-seat usage.</a:t>
            </a:r>
            <a:endParaRPr lang="en-US" sz="1200" dirty="0"/>
          </a:p>
        </p:txBody>
      </p:sp>
      <p:sp>
        <p:nvSpPr>
          <p:cNvPr id="8" name="Legend sq 8"/>
          <p:cNvSpPr/>
          <p:nvPr/>
        </p:nvSpPr>
        <p:spPr>
          <a:xfrm>
            <a:off x="4592574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" name="Legend tx 9"/>
          <p:cNvSpPr txBox="1"/>
          <p:nvPr/>
        </p:nvSpPr>
        <p:spPr>
          <a:xfrm>
            <a:off x="4757166" y="45994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US" sz="1200" dirty="0"/>
          </a:p>
        </p:txBody>
      </p:sp>
      <p:sp>
        <p:nvSpPr>
          <p:cNvPr id="10" name="Legend sq 10"/>
          <p:cNvSpPr/>
          <p:nvPr/>
        </p:nvSpPr>
        <p:spPr>
          <a:xfrm>
            <a:off x="5424678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1" name="Legend tx 11"/>
          <p:cNvSpPr txBox="1"/>
          <p:nvPr/>
        </p:nvSpPr>
        <p:spPr>
          <a:xfrm>
            <a:off x="5589270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</a:t>
            </a:r>
            <a:endParaRPr lang="en-US" sz="1200" dirty="0"/>
          </a:p>
        </p:txBody>
      </p:sp>
      <p:sp>
        <p:nvSpPr>
          <p:cNvPr id="12" name="Legend sq 12"/>
          <p:cNvSpPr/>
          <p:nvPr/>
        </p:nvSpPr>
        <p:spPr>
          <a:xfrm>
            <a:off x="6412230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3" name="Legend tx 13"/>
          <p:cNvSpPr txBox="1"/>
          <p:nvPr/>
        </p:nvSpPr>
        <p:spPr>
          <a:xfrm>
            <a:off x="6576822" y="4599432"/>
            <a:ext cx="992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was sustained over time and has increased for most users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holders by number of months active, July to September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841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spend per active user ($)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098280" y="841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tokens per active user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914400"/>
            <a:ext cx="0" cy="397764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365760" y="1234440"/>
          <a:ext cx="53949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6263640" y="1234440"/>
          <a:ext cx="26974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2" descr=""/>
          <p:cNvGraphicFramePr/>
          <p:nvPr/>
        </p:nvGraphicFramePr>
        <p:xfrm>
          <a:off x="9098280" y="1234440"/>
          <a:ext cx="26974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license holders were active in every month of the pilot.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July, spend per active Claude user rose 37% and ChatGPT tokens per active user more than tripled.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 of ChatGPT license holders never used it; those licenses can be reassigned in Phase 2.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users; 11 departments, excluding Exec. Spend excludes the license fee. Growth compares September with July, on unrounded values.</a:t>
            </a:r>
            <a:endParaRPr lang="en-US" sz="1200" dirty="0"/>
          </a:p>
        </p:txBody>
      </p:sp>
      <p:sp>
        <p:nvSpPr>
          <p:cNvPr id="13" name="Legend sq 13"/>
          <p:cNvSpPr/>
          <p:nvPr/>
        </p:nvSpPr>
        <p:spPr>
          <a:xfrm>
            <a:off x="187452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4" name="Legend tx 14"/>
          <p:cNvSpPr txBox="1"/>
          <p:nvPr/>
        </p:nvSpPr>
        <p:spPr>
          <a:xfrm>
            <a:off x="352044" y="459943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 months</a:t>
            </a:r>
            <a:endParaRPr lang="en-US" sz="1200" dirty="0"/>
          </a:p>
        </p:txBody>
      </p:sp>
      <p:sp>
        <p:nvSpPr>
          <p:cNvPr id="15" name="Legend sq 15"/>
          <p:cNvSpPr/>
          <p:nvPr/>
        </p:nvSpPr>
        <p:spPr>
          <a:xfrm>
            <a:off x="1641348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6" name="Legend tx 16"/>
          <p:cNvSpPr txBox="1"/>
          <p:nvPr/>
        </p:nvSpPr>
        <p:spPr>
          <a:xfrm>
            <a:off x="1805940" y="4599432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3 months</a:t>
            </a:r>
            <a:endParaRPr lang="en-US" sz="1200" dirty="0"/>
          </a:p>
        </p:txBody>
      </p:sp>
      <p:sp>
        <p:nvSpPr>
          <p:cNvPr id="17" name="Legend sq 17"/>
          <p:cNvSpPr/>
          <p:nvPr/>
        </p:nvSpPr>
        <p:spPr>
          <a:xfrm>
            <a:off x="3172968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8" name="Legend tx 18"/>
          <p:cNvSpPr txBox="1"/>
          <p:nvPr/>
        </p:nvSpPr>
        <p:spPr>
          <a:xfrm>
            <a:off x="3337560" y="4599432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of 3 months</a:t>
            </a:r>
            <a:endParaRPr lang="en-US" sz="1200" dirty="0"/>
          </a:p>
        </p:txBody>
      </p:sp>
      <p:sp>
        <p:nvSpPr>
          <p:cNvPr id="19" name="Legend sq 19"/>
          <p:cNvSpPr/>
          <p:nvPr/>
        </p:nvSpPr>
        <p:spPr>
          <a:xfrm>
            <a:off x="4704588" y="4668012"/>
            <a:ext cx="118872" cy="118872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20" name="Legend tx 20"/>
          <p:cNvSpPr txBox="1"/>
          <p:nvPr/>
        </p:nvSpPr>
        <p:spPr>
          <a:xfrm>
            <a:off x="4869180" y="4599432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used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is concentrated among heavy users, but growth comes from the broader base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% of September usage, by % of users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841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spend per user ($)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098280" y="841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tokens per user (M)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914400"/>
            <a:ext cx="0" cy="397764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365760" y="1234440"/>
          <a:ext cx="53949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6263640" y="1234440"/>
          <a:ext cx="26974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2" descr=""/>
          <p:cNvGraphicFramePr/>
          <p:nvPr/>
        </p:nvGraphicFramePr>
        <p:xfrm>
          <a:off x="9098280" y="1234440"/>
          <a:ext cx="26974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Shape 6"/>
          <p:cNvSpPr/>
          <p:nvPr/>
        </p:nvSpPr>
        <p:spPr>
          <a:xfrm>
            <a:off x="7623810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7788402" y="45994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455914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8620506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9443466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9608058" y="4599432"/>
            <a:ext cx="992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fifth of users account for about 70% of usage on both tools.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users' use per person doubled on Claude and grew about tenfold on ChatGPT since July.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users added more total usage than heavy users on both tools.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users; 11 departments, excluding Exec. Claude measured by spend, ChatGPT by tokens. Growth uses unrounded values.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users: top 20% of July-active users by July usage (Claude 49, ChatGPT 55); light users: the rest (195, 220). Groups fixed by July rank.</a:t>
            </a:r>
            <a:endParaRPr lang="en-US" sz="1200" dirty="0"/>
          </a:p>
        </p:txBody>
      </p:sp>
      <p:sp>
        <p:nvSpPr>
          <p:cNvPr id="19" name="Legend sq 19"/>
          <p:cNvSpPr/>
          <p:nvPr/>
        </p:nvSpPr>
        <p:spPr>
          <a:xfrm>
            <a:off x="1019556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20" name="Legend tx 20"/>
          <p:cNvSpPr txBox="1"/>
          <p:nvPr/>
        </p:nvSpPr>
        <p:spPr>
          <a:xfrm>
            <a:off x="1184148" y="4599432"/>
            <a:ext cx="17693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(% of spend)</a:t>
            </a:r>
            <a:endParaRPr lang="en-US" sz="1200" dirty="0"/>
          </a:p>
        </p:txBody>
      </p:sp>
      <p:sp>
        <p:nvSpPr>
          <p:cNvPr id="21" name="Legend sq 21"/>
          <p:cNvSpPr/>
          <p:nvPr/>
        </p:nvSpPr>
        <p:spPr>
          <a:xfrm>
            <a:off x="3017520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22" name="Legend tx 22"/>
          <p:cNvSpPr txBox="1"/>
          <p:nvPr/>
        </p:nvSpPr>
        <p:spPr>
          <a:xfrm>
            <a:off x="3182112" y="4599432"/>
            <a:ext cx="1924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(% of tokens)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cost per request is lower than at launch, even as usage grows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average cost per request (cents)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84124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spend by model (% of total)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0" cy="397764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365760" y="1234440"/>
          <a:ext cx="539496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365760" y="30358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September: −15% vs. July, +11% vs. August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336499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request per person (cents)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639312"/>
          <a:ext cx="53949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234440"/>
                <a:gridCol w="1234440"/>
                <a:gridCol w="123444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August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September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25th percentile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6.4¢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5.2¢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5.9¢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10.7¢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7.8¢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8.1¢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75th percentile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22.5¢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12.5¢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13.7¢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Chart 1" descr=""/>
          <p:cNvGraphicFramePr/>
          <p:nvPr/>
        </p:nvGraphicFramePr>
        <p:xfrm>
          <a:off x="6263640" y="1234440"/>
          <a:ext cx="55321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7"/>
          <p:cNvSpPr/>
          <p:nvPr/>
        </p:nvSpPr>
        <p:spPr>
          <a:xfrm>
            <a:off x="6508242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6672834" y="4599432"/>
            <a:ext cx="16139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Higher-cost model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350758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8515350" y="4599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5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493758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658350" y="4599432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4.6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10792206" y="4668012"/>
            <a:ext cx="118872" cy="118872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10956798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request is 15% below July, as more usage moved to lower-cost models.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September rise reflects new users trying the higher-cost model, not a reversal of the trend.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guidance on when to use the higher-cost model will keep costs down in Phase 2.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users; 11 departments, excluding Exec. Claude: 301 license holders; 255 active in July, </a:t>
            </a:r>
            <a:pPr indent="0" marL="0">
              <a:buNone/>
            </a:pPr>
            <a:r>
              <a:rPr lang="en-US" sz="1200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active in August.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on the assigned tool is high across departments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 as % of license holders on the assigned tool, by department, September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of 11 departments are at 90% or above, and none is below 70%.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lowest, Membership and Marketing, are about 6 and 2 people short of full adoption.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September. Subset of AI Connect users holding their department's assigned tool; departures excluded. Membership: 22 users; Marketing: 9.</a:t>
            </a:r>
            <a:endParaRPr lang="en-US" sz="1200" dirty="0"/>
          </a:p>
        </p:txBody>
      </p:sp>
      <p:sp>
        <p:nvSpPr>
          <p:cNvPr id="8" name="Legend sq 8"/>
          <p:cNvSpPr/>
          <p:nvPr/>
        </p:nvSpPr>
        <p:spPr>
          <a:xfrm>
            <a:off x="4386834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9" name="Legend tx 9"/>
          <p:cNvSpPr txBox="1"/>
          <p:nvPr/>
        </p:nvSpPr>
        <p:spPr>
          <a:xfrm>
            <a:off x="4551426" y="4599432"/>
            <a:ext cx="14584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Claude-assigned</a:t>
            </a:r>
            <a:endParaRPr lang="en-US" sz="1200" dirty="0"/>
          </a:p>
        </p:txBody>
      </p:sp>
      <p:sp>
        <p:nvSpPr>
          <p:cNvPr id="10" name="Legend sq 10"/>
          <p:cNvSpPr/>
          <p:nvPr/>
        </p:nvSpPr>
        <p:spPr>
          <a:xfrm>
            <a:off x="6073902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1" name="Legend tx 11"/>
          <p:cNvSpPr txBox="1"/>
          <p:nvPr/>
        </p:nvSpPr>
        <p:spPr>
          <a:xfrm>
            <a:off x="6238494" y="459943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ChatGPT-assigned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are experimenting far more than Connect users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requests per active user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84124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tokens per active user (M)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0" cy="397764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365760" y="1234440"/>
          <a:ext cx="53949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6263640" y="1234440"/>
          <a:ext cx="55321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4674870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839462" y="45994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506974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671566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94526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659118" y="4599432"/>
            <a:ext cx="992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use Claude about 3 times and ChatGPT about 2 times as much as Connect users.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lead is steady on Claude and widening on ChatGPT, from 1.4 times in July to 2.0 times in September.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experimentation builds the examples and know-how Connect users can reuse in Phase 2.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active user. AI Connect users: 11 departments, excluding Exec. </a:t>
            </a:r>
            <a:pPr indent="0" marL="0">
              <a:buNone/>
            </a:pPr>
            <a:r>
              <a:rPr lang="en-US" sz="1200" i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[Claude chart to switch to spend per active user when Champion spend data is available]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access to both tools, Claude adoption leads and the gap is widening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 as % of people licensed for both tools (164 people)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both tools available, 91% use Claude and 62% use ChatGPT, so access does not explain the gap.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Claude's lead widened from 27 to 29 points over the pilot.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preference should weigh in the tool decision.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users licensed for both Claude and ChatGPT; departures excluded.</a:t>
            </a:r>
            <a:endParaRPr lang="en-US" sz="1200" dirty="0"/>
          </a:p>
        </p:txBody>
      </p:sp>
      <p:sp>
        <p:nvSpPr>
          <p:cNvPr id="8" name="Legend sq 8"/>
          <p:cNvSpPr/>
          <p:nvPr/>
        </p:nvSpPr>
        <p:spPr>
          <a:xfrm>
            <a:off x="4592574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9" name="Legend tx 9"/>
          <p:cNvSpPr txBox="1"/>
          <p:nvPr/>
        </p:nvSpPr>
        <p:spPr>
          <a:xfrm>
            <a:off x="4757166" y="45994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US" sz="1200" dirty="0"/>
          </a:p>
        </p:txBody>
      </p:sp>
      <p:sp>
        <p:nvSpPr>
          <p:cNvPr id="10" name="Legend sq 10"/>
          <p:cNvSpPr/>
          <p:nvPr/>
        </p:nvSpPr>
        <p:spPr>
          <a:xfrm>
            <a:off x="5424678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1" name="Legend tx 11"/>
          <p:cNvSpPr txBox="1"/>
          <p:nvPr/>
        </p:nvSpPr>
        <p:spPr>
          <a:xfrm>
            <a:off x="5589270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</a:t>
            </a:r>
            <a:endParaRPr lang="en-US" sz="1200" dirty="0"/>
          </a:p>
        </p:txBody>
      </p:sp>
      <p:sp>
        <p:nvSpPr>
          <p:cNvPr id="12" name="Legend sq 12"/>
          <p:cNvSpPr/>
          <p:nvPr/>
        </p:nvSpPr>
        <p:spPr>
          <a:xfrm>
            <a:off x="6412230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3" name="Legend tx 13"/>
          <p:cNvSpPr txBox="1"/>
          <p:nvPr/>
        </p:nvSpPr>
        <p:spPr>
          <a:xfrm>
            <a:off x="6576822" y="4599432"/>
            <a:ext cx="992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show AI moving into regular work and saving time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summary: AI use cases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44168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32588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 use AI for different kinds of work.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636776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 use cases came from 11 departments; Enterprise Analytics leans on analysis, Legal and HR on drafting.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2002536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12264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093976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use cases are recurring, not one-off.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40487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 of 262 (69%) recur, and 114 (44%) happen daily or weekly.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0120" y="2770632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80360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862072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use cases produced something others can reuse.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172968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 of 262 (55%) created a saved prompt, skill or Claude Project.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0120" y="3538728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648456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630168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savings are spread widely, led by four task types.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3941064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117 use cases with an hours estimate save 6,453 hours a year; the top 20 deliver 57%.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0120" y="4306824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416552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576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4398264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generated about half of the hours saved.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470916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are 6% of licensed users but generated 48% of hours saved.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60120" y="5074920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5184648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57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516636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extend beyond time saved.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5477256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submissions describe better decisions, fewer errors or avoided costs; </a:t>
            </a:r>
            <a:pPr indent="0" marL="0">
              <a:buNone/>
            </a:pPr>
            <a:r>
              <a:rPr lang="en-US" sz="1400" i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[cost examples being confirmed with submission owners]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262 AI use case submissions from AI Connect users and Champions, Phase 1.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and use cases by Champions and Connect users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to come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1430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365760" y="1234440"/>
            <a:ext cx="11430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[Placeholder: engagement / correlation analysis by Champions and Connect users]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 use AI for different kinds of work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by task type, % of each department’s use cases (number of use cases)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337560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502152" y="4599432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02836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67428" y="4599432"/>
            <a:ext cx="681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12664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77256" y="4599432"/>
            <a:ext cx="992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33388" y="4668012"/>
            <a:ext cx="118872" cy="1188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97980" y="4599432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work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42732" y="4668012"/>
            <a:ext cx="118872" cy="118872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07324" y="4599432"/>
            <a:ext cx="681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Analytics leans on analysis (44%), while Legal and HR lean on drafting (43 to 44%).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splits between summarizing and technical work; Finance spreads across many task types.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Other: research, review, data extraction, coaching and brainstorming. Labels under 8% not shown.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use cases are recurring, not one-off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by how often they happen (% of 262)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84124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and weekly use cases by task type (114)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0" cy="397764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365760" y="1234440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1040587" y="1337310"/>
            <a:ext cx="1779422" cy="2978658"/>
          </a:xfrm>
          <a:prstGeom prst="rect">
            <a:avLst/>
          </a:prstGeom>
          <a:ln w="12700">
            <a:solidFill>
              <a:srgbClr val="7F7F7F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1013155" y="1373886"/>
            <a:ext cx="18342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or weekly: 44%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63640" y="1234440"/>
          <a:ext cx="5532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 of use cases recur, and 44% happen daily or weekly: AI is part of routine work, not occasional experiments.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task types account for 82% of daily and weekly use: summarizing, analyzing, drafting and technical work.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four recurring tasks are where Phase 2 training and shared prompts will reach the most people.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as reported in submissions: 36 daily, 78 weekly, 46 monthly, 22 quarterly, 80 ad hoc.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use cases produced something others can reuse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by type of reusable asset (262)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84124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assets by task type (145)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0" cy="397764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365760" y="1234440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1040587" y="1337310"/>
            <a:ext cx="2696566" cy="2978658"/>
          </a:xfrm>
          <a:prstGeom prst="rect">
            <a:avLst/>
          </a:prstGeom>
          <a:ln w="12700">
            <a:solidFill>
              <a:srgbClr val="7F7F7F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1013155" y="1373886"/>
            <a:ext cx="2751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Reusable: 145 (55%)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63640" y="1234440"/>
          <a:ext cx="5532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half of use cases created a saved prompt, skill or Claude Project, most often a saved prompt.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four task types that recur most also produce 77% of reusable assets.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assets are a ready-made library to share across departments in Phase 2.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submissions did not classify reuse and are counted as not reusable.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savings are spread widely, led by four task types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annual hours saved, by task type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841248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hours saved, by number of use cases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0" cy="397764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365760" y="1234440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6263640" y="1234440"/>
          <a:ext cx="5532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117 use cases with an hours estimate save 6,453 hours a year; four task types account for 84%.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20 use cases deliver 57% of hours, yet 43% comes from the other 97: value does not rest on a few cases.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are 6% of licensed users but generated 48% of hours saved.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Validated, annualized estimates from submissions. 145 of 262 submissions had no usable hours estimate.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extend beyond time saved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submissions describe business benefits beyond time saved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280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decisions and visibility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361188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7373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employees spot issues and weigh choices earlier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23774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Transfer analysis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merchants earlier visibility into sales and margin effects of Keep/Delist decisions.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34290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tenure analysis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a new quantitative view of article lifecycles across more than 40,000 articles.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26230" y="1280160"/>
            <a:ext cx="0" cy="338328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74820" y="1280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errors and lower risk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74820" y="1645920"/>
            <a:ext cx="361188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74820" y="17373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strengthens checks employees used to do by hand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74820" y="23774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code scanning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a high-impact vulnerability in the gift-card refund process.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74820" y="34290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DSO calculation automation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Eliminated manual calculation errors and standardized the method across B2B Terms customers.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35290" y="1280160"/>
            <a:ext cx="0" cy="338328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1280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Avoided cost and new capability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83880" y="1645920"/>
            <a:ext cx="361188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17373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use cases replace outside services or add skills teams lacked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23774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&amp; Learn analysis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Brought analysis in-house that employees compared with software costing more than $1 million.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34290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Perishables POG automation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work included in about $1 million of outsourced spending.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46634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confirm with submission owners]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 understates the value: several use cases changed decisions, reduced risk or replaced outside spend.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should capture these benefits alongside hours, so the full value is visible.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selected from 35 submissions describing benefits beyond time saved.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else is needed to unlock broader value from the tools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to come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14300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365760" y="1234440"/>
            <a:ext cx="11430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[Placeholder: what else is needed to unlock broader value]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comparison favors Claude on every measure, by a modest margin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summary: tool selection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44168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32588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compared both tools on 96 real tasks from their own work.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636776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departments; each task scored on six dimensions, then a preferred tool chosen per task and overall.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2002536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12264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093976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scored higher on all six dimensions.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40487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of 0.1 to 0.3 points on a 5-point scale; largest in clarity and tone.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0120" y="2770632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80360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862072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was the preferred tool on most tasks and in most kinds of work.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172968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on 54% of tasks and in 7 of 9 kinds of work; ChatGPT led only in content creation.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0120" y="3538728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648456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630168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for an overall preference, Champions chose Claude nearly four to one.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3941064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of 27 Champions with a clear answer chose Claude, 4 chose ChatGPT; 8 said both or that it depends.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0120" y="4306824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416552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576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4398264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results and Champions’ preferences point the same way in 9 of 11 departments.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470916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and HR differ: their tasks favor Claude, their Champions prefer ChatGPT.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60120" y="5074920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5184648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57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516636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to follow.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5477256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[pending: cost per seat, decision owner, prior intent]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comparison challenge, Phase 1: 34 Champions, 96 tasks. Task shares exclude 2 tasks marked Either or Neither.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compared both tools on their own real tasks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tool comparison was run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28700" y="1600200"/>
            <a:ext cx="777240" cy="77724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870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97380" y="1988820"/>
            <a:ext cx="1371600" cy="0"/>
          </a:xfrm>
          <a:prstGeom prst="line">
            <a:avLst/>
          </a:prstGeom>
          <a:noFill/>
          <a:ln w="19050">
            <a:solidFill>
              <a:srgbClr val="CC0033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36576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TASKS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Champion chose three real tasks from their own work.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60420" y="1600200"/>
            <a:ext cx="777240" cy="77724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6042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29100" y="1988820"/>
            <a:ext cx="1371600" cy="0"/>
          </a:xfrm>
          <a:prstGeom prst="line">
            <a:avLst/>
          </a:prstGeom>
          <a:noFill/>
          <a:ln w="19050">
            <a:solidFill>
              <a:srgbClr val="CC0033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69748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BOTH TOOLS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prompt and inputs went into Claude and ChatGPT.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92140" y="1600200"/>
            <a:ext cx="777240" cy="77724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9214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560820" y="1988820"/>
            <a:ext cx="1371600" cy="0"/>
          </a:xfrm>
          <a:prstGeom prst="line">
            <a:avLst/>
          </a:prstGeom>
          <a:noFill/>
          <a:ln w="19050">
            <a:solidFill>
              <a:srgbClr val="CC0033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02920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FIRST RESPONSE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quality, instruction-following, and clarity and tone.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23860" y="1600200"/>
            <a:ext cx="777240" cy="77724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2386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892540" y="1988820"/>
            <a:ext cx="1371600" cy="0"/>
          </a:xfrm>
          <a:prstGeom prst="line">
            <a:avLst/>
          </a:prstGeom>
          <a:noFill/>
          <a:ln w="19050">
            <a:solidFill>
              <a:srgbClr val="CC0033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36092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AND VERIFY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the task, then scored effort, time saved and trust in results.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355580" y="1600200"/>
            <a:ext cx="777240" cy="77724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35558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WINNER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 the preferred tool for each task and explained why.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tested their own work, so the results reflect BJ’s tasks rather than vendor benchmarks.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task was scored on the same six dimensions, then a preferred tool was chosen per task and overall.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tasks across 11 departments; 34 Champions in scope, 27 gave an overall preference.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analysis was tested most, but each department tested a different mix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compared by theme, % of each department’s tasks (number of tasks)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705356" y="439369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869948" y="4325112"/>
            <a:ext cx="14584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analysis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92424" y="4393692"/>
            <a:ext cx="118872" cy="11887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57016" y="4325112"/>
            <a:ext cx="11475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68596" y="439369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933188" y="432511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33388" y="4393692"/>
            <a:ext cx="118872" cy="1188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97980" y="4325112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Structuring information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842248" y="4393692"/>
            <a:ext cx="118872" cy="118872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006840" y="4325112"/>
            <a:ext cx="16139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concepting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937510" y="4668012"/>
            <a:ext cx="118872" cy="118872"/>
          </a:xfrm>
          <a:prstGeom prst="rect">
            <a:avLst/>
          </a:prstGeom>
          <a:solidFill>
            <a:srgbClr val="CE9B4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102102" y="4599432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synthesis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168646" y="4668012"/>
            <a:ext cx="118872" cy="118872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333238" y="4599432"/>
            <a:ext cx="16139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and formulas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011162" y="4668012"/>
            <a:ext cx="118872" cy="118872"/>
          </a:xfrm>
          <a:prstGeom prst="rect">
            <a:avLst/>
          </a:prstGeom>
          <a:solidFill>
            <a:srgbClr val="E8D3A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5754" y="4599432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542782" y="4668012"/>
            <a:ext cx="118872" cy="118872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707374" y="4599432"/>
            <a:ext cx="681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kinds of work made up two-thirds of tests: data and analysis, summarizing, content creation and structuring.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and Analytics ran 46% of all tests; Strategy, Legal, Marketing and HR ran 3 to 5 each.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tasks compared by Champions. Percentages are each department’s share of its own tasks.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scored higher on all six dimensions, by a modest margin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score per task, by dimension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gap: clarity and tone (3.9 vs 4.2); smallest: time saved (3.9 vs 4.0).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also needed less prompting to get there (3.9 vs 3.7; a higher score means less effort).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Champion score per task, 1 to 5. Prompt effort: a higher score means less effort. Axis starts at 3.0.</a:t>
            </a:r>
            <a:endParaRPr lang="en-US" sz="1200" dirty="0"/>
          </a:p>
        </p:txBody>
      </p:sp>
      <p:sp>
        <p:nvSpPr>
          <p:cNvPr id="8" name="Legend sq 8"/>
          <p:cNvSpPr/>
          <p:nvPr/>
        </p:nvSpPr>
        <p:spPr>
          <a:xfrm>
            <a:off x="5086350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Legend tx 9"/>
          <p:cNvSpPr txBox="1"/>
          <p:nvPr/>
        </p:nvSpPr>
        <p:spPr>
          <a:xfrm>
            <a:off x="5250942" y="4599432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0" name="Legend sq 10"/>
          <p:cNvSpPr/>
          <p:nvPr/>
        </p:nvSpPr>
        <p:spPr>
          <a:xfrm>
            <a:off x="6151626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1" name="Legend tx 11"/>
          <p:cNvSpPr txBox="1"/>
          <p:nvPr/>
        </p:nvSpPr>
        <p:spPr>
          <a:xfrm>
            <a:off x="6316218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was preferred in most kinds of work; ChatGPT only in content creation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tool, % of tasks in each theme (number of tasks)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752594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917186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40146" y="4668012"/>
            <a:ext cx="118872" cy="118872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04738" y="45994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72250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36842" y="4599432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led 7 of 9 kinds of work, tied in visual concepting, and trailed only in content creation (4 of 11 tasks).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data and analysis, the most-tested kind of work, Claude was preferred 15 to 7, with 6 ties.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 tasks with a Claude, ChatGPT or tied pick; excludes 2 marked Either or Neither.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departments preferred Claude; Merchandising and Shared Services leaned ChatGPT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tool, % of each department’s tasks (number of tasks)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752594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917186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40146" y="4668012"/>
            <a:ext cx="118872" cy="118872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04738" y="45994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72250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36842" y="4599432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and Analytics, the two departments with 16 or more tasks, preferred Claude 15 to 11 and 8 to 5.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Services (3 to 2) and Merchandising (5 to 3) leaned ChatGPT; Marketing split 1 to 1 with 2 ties.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 tasks with a Claude, ChatGPT or tied pick; excludes 2 marked Either or Neither.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for an overall preference, Champions chose Claude nearly four to one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Champions’ preferred tool, by department (number of Champions)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987802" y="4668012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152394" y="4599432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975354" y="4668012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139946" y="4599432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40630" y="4668012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205222" y="45994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72734" y="4668012"/>
            <a:ext cx="118872" cy="118872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37326" y="4599432"/>
            <a:ext cx="17693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the task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70698" y="4668012"/>
            <a:ext cx="118872" cy="118872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035290" y="4599432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preference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of 27 Champions with a clear answer chose Claude, 4 chose ChatGPT; 8 said both or that it depends on the task.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Technology has more than four Champions; every other department shows two to four individual views.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Champions in scope. Labels show number of Champions. No preference: blank answer or no submission.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results and Champions’ preferences agree in most departments; Analytics and HR differ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tool by department: task results and Champions’ overall preference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3108960"/>
                <a:gridCol w="3474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 results (preferred tool per task)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Champions’ overall preference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15, ChatGPT 11, tied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5, ChatGPT 1, both 1, none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Agree: 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8, ChatGPT 5, tied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2, Claude 1, none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C0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Differ: tasks favor Claude, Champions favor 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Merchandising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5, Claude 3, tied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Depends 2, Claude 1, none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Agree: no single 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Agree: Claude (6 tasks)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Membership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3, ChatGPT 1, tied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1, depends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Lean Claude (5 tasks)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3, ChatGPT 2, tied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Agree: either tool works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Services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3, Claude 2, tied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Depends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Agree: depends on the task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Agree: Claude (5 tasks)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3, ChatGPT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1, none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Agree: Claude (4 tasks)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1, ChatGPT 1, tied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2, none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Champions favor Claude; tasks split (4 tasks)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2, ChatGPT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1, none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C0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Differ: 3 tasks and one answer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is the one unresolved case with enough data: 16 tasks favor Claude, but 2 of 3 Champions prefer ChatGPT.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rests on 3 tasks and one Champion’s answer, too little to settle either way.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counts exclude 2 tasks marked Either or Neither. Champion counts show all answers given.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666666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2026-10-01T18:29:58Z</dcterms:created>
  <dcterms:modified xsi:type="dcterms:W3CDTF">2026-10-01T18:29:58Z</dcterms:modified>
</cp:coreProperties>
</file>