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4.xml" ContentType="application/vnd.openxmlformats-officedocument.drawingml.chart+xml"/>
  <Override PartName="/ppt/embeddings/Microsoft_Excel_Worksheet14.xlsx" ContentType="application/vnd.openxmlformats-officedocument.spreadsheetml.sheet"/>
  <Override PartName="/ppt/charts/chart15.xml" ContentType="application/vnd.openxmlformats-officedocument.drawingml.chart+xml"/>
  <Override PartName="/ppt/embeddings/Microsoft_Excel_Worksheet15.xlsx" ContentType="application/vnd.openxmlformats-officedocument.spreadsheetml.sheet"/>
  <Override PartName="/ppt/charts/chart16.xml" ContentType="application/vnd.openxmlformats-officedocument.drawingml.chart+xml"/>
  <Override PartName="/ppt/embeddings/Microsoft_Excel_Worksheet16.xlsx" ContentType="application/vnd.openxmlformats-officedocument.spreadsheetml.sheet"/>
  <Override PartName="/ppt/charts/chart17.xml" ContentType="application/vnd.openxmlformats-officedocument.drawingml.chart+xml"/>
  <Override PartName="/ppt/embeddings/Microsoft_Excel_Worksheet17.xlsx" ContentType="application/vnd.openxmlformats-officedocument.spreadsheetml.sheet"/>
  <Override PartName="/ppt/charts/chart18.xml" ContentType="application/vnd.openxmlformats-officedocument.drawingml.chart+xml"/>
  <Override PartName="/ppt/embeddings/Microsoft_Excel_Worksheet18.xlsx" ContentType="application/vnd.openxmlformats-officedocument.spreadsheetml.sheet"/>
  <Override PartName="/ppt/charts/chart19.xml" ContentType="application/vnd.openxmlformats-officedocument.drawingml.chart+xml"/>
  <Override PartName="/ppt/embeddings/Microsoft_Excel_Worksheet19.xlsx" ContentType="application/vnd.openxmlformats-officedocument.spreadsheetml.sheet"/>
  <Override PartName="/ppt/charts/chart20.xml" ContentType="application/vnd.openxmlformats-officedocument.drawingml.chart+xml"/>
  <Override PartName="/ppt/embeddings/Microsoft_Excel_Worksheet20.xlsx" ContentType="application/vnd.openxmlformats-officedocument.spreadsheetml.sheet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21.xml" ContentType="application/vnd.openxmlformats-officedocument.drawingml.chart+xml"/>
  <Override PartName="/ppt/embeddings/Microsoft_Excel_Worksheet21.xlsx" ContentType="application/vnd.openxmlformats-officedocument.spreadsheetml.sheet"/>
  <Override PartName="/ppt/charts/chart22.xml" ContentType="application/vnd.openxmlformats-officedocument.drawingml.chart+xml"/>
  <Override PartName="/ppt/embeddings/Microsoft_Excel_Worksheet22.xlsx" ContentType="application/vnd.openxmlformats-officedocument.spreadsheetml.sheet"/>
  <Override PartName="/ppt/charts/chart23.xml" ContentType="application/vnd.openxmlformats-officedocument.drawingml.chart+xml"/>
  <Override PartName="/ppt/embeddings/Microsoft_Excel_Worksheet23.xlsx" ContentType="application/vnd.openxmlformats-officedocument.spreadsheetml.sheet"/>
  <Override PartName="/ppt/charts/chart24.xml" ContentType="application/vnd.openxmlformats-officedocument.drawingml.chart+xml"/>
  <Override PartName="/ppt/embeddings/Microsoft_Excel_Worksheet24.xlsx" ContentType="application/vnd.openxmlformats-officedocument.spreadsheetml.sheet"/>
  <Override PartName="/ppt/charts/chart25.xml" ContentType="application/vnd.openxmlformats-officedocument.drawingml.chart+xml"/>
  <Override PartName="/ppt/embeddings/Microsoft_Excel_Worksheet25.xlsx" ContentType="application/vnd.openxmlformats-officedocument.spreadsheetml.sheet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000000"/>
                        </a:solidFill>
                        <a:latin typeface="Arial"/>
                      </a:rPr>
                      <a:t>85%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000000"/>
                        </a:solidFill>
                        <a:latin typeface="Arial"/>
                      </a:rPr>
                      <a:t>255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000000"/>
                        </a:solidFill>
                        <a:latin typeface="Arial"/>
                      </a:rPr>
                      <a:t>70%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000000"/>
                        </a:solidFill>
                        <a:latin typeface="Arial"/>
                      </a:rPr>
                      <a:t>280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88%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261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75%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293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0.88</c:v>
                </c:pt>
                <c:pt idx="1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91%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263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77%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291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0.91</c:v>
                </c:pt>
                <c:pt idx="1">
                  <c:v>0.77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3 months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of 3 months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0.13</c:v>
                </c:pt>
                <c:pt idx="1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of 3 months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0.06</c:v>
                </c:pt>
                <c:pt idx="1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Never used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</c:v>
                </c:pt>
                <c:pt idx="1">
                  <c:v>0.14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39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50</c:v>
                </c:pt>
              </c:numCache>
            </c:numRef>
          </c:val>
        </c:ser>
        <c:dLbls>
          <c:numFmt formatCode="&quot;$&quot;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63</c:v>
                </c:pt>
              </c:numCache>
            </c:numRef>
          </c:val>
        </c:ser>
        <c:dLbls>
          <c:numFmt formatCode="0&quot;M&quot;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(% of spend)</c:v>
                </c:pt>
              </c:strCache>
            </c:strRef>
          </c:tx>
          <c:spPr>
            <a:solidFill>
              <a:srgbClr val="CC0033"/>
            </a:solidFill>
            <a:ln w="31750" cap="flat">
              <a:solidFill>
                <a:srgbClr val="CC0033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CC0033"/>
                        </a:solidFill>
                        <a:latin typeface="Arial"/>
                      </a:rPr>
                      <a:t>68%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marker>
            <c:symbol val="none"/>
            <c:size val="6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0.32899999999999996</c:v>
                </c:pt>
                <c:pt idx="2">
                  <c:v>0.48200000000000004</c:v>
                </c:pt>
                <c:pt idx="3">
                  <c:v>0.5920000000000001</c:v>
                </c:pt>
                <c:pt idx="4">
                  <c:v>0.68</c:v>
                </c:pt>
                <c:pt idx="5">
                  <c:v>0.743</c:v>
                </c:pt>
                <c:pt idx="6">
                  <c:v>0.792</c:v>
                </c:pt>
                <c:pt idx="7">
                  <c:v>0.8340000000000001</c:v>
                </c:pt>
                <c:pt idx="8">
                  <c:v>0.87</c:v>
                </c:pt>
                <c:pt idx="9">
                  <c:v>0.9009999999999999</c:v>
                </c:pt>
                <c:pt idx="10">
                  <c:v>0.9259999999999999</c:v>
                </c:pt>
                <c:pt idx="11">
                  <c:v>0.945</c:v>
                </c:pt>
                <c:pt idx="12">
                  <c:v>0.96</c:v>
                </c:pt>
                <c:pt idx="13">
                  <c:v>0.972</c:v>
                </c:pt>
                <c:pt idx="14">
                  <c:v>0.98</c:v>
                </c:pt>
                <c:pt idx="15">
                  <c:v>0.987</c:v>
                </c:pt>
                <c:pt idx="16">
                  <c:v>0.993</c:v>
                </c:pt>
                <c:pt idx="17">
                  <c:v>0.996</c:v>
                </c:pt>
                <c:pt idx="18">
                  <c:v>0.9990000000000001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 (% of tokens)</c:v>
                </c:pt>
              </c:strCache>
            </c:strRef>
          </c:tx>
          <c:spPr>
            <a:solidFill>
              <a:srgbClr val="7F7F7F"/>
            </a:solidFill>
            <a:ln w="3175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7F7F7F"/>
                        </a:solidFill>
                        <a:latin typeface="Arial"/>
                      </a:rPr>
                      <a:t>76%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errBars>
            <c:errDir val="y"/>
            <c:errBarType val="minus"/>
            <c:errValType val="cust"/>
            <c:noEndCap val="1"/>
            <c:plus>
              <c:numLit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Lit>
            </c:plus>
            <c:minus>
              <c:numLit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0.76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Lit>
            </c:minus>
            <c:spPr>
              <a:ln w="12700">
                <a:solidFill>
                  <a:srgbClr val="7F7F7F"/>
                </a:solidFill>
                <a:prstDash val="dash"/>
              </a:ln>
            </c:spPr>
          </c:errBars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0.41600000000000004</c:v>
                </c:pt>
                <c:pt idx="2">
                  <c:v>0.581</c:v>
                </c:pt>
                <c:pt idx="3">
                  <c:v>0.687</c:v>
                </c:pt>
                <c:pt idx="4">
                  <c:v>0.7559999999999999</c:v>
                </c:pt>
                <c:pt idx="5">
                  <c:v>0.81</c:v>
                </c:pt>
                <c:pt idx="6">
                  <c:v>0.847</c:v>
                </c:pt>
                <c:pt idx="7">
                  <c:v>0.88</c:v>
                </c:pt>
                <c:pt idx="8">
                  <c:v>0.907</c:v>
                </c:pt>
                <c:pt idx="9">
                  <c:v>0.932</c:v>
                </c:pt>
                <c:pt idx="10">
                  <c:v>0.95</c:v>
                </c:pt>
                <c:pt idx="11">
                  <c:v>0.965</c:v>
                </c:pt>
                <c:pt idx="12">
                  <c:v>0.976</c:v>
                </c:pt>
                <c:pt idx="13">
                  <c:v>0.9840000000000001</c:v>
                </c:pt>
                <c:pt idx="14">
                  <c:v>0.99</c:v>
                </c:pt>
                <c:pt idx="15">
                  <c:v>0.9940000000000001</c:v>
                </c:pt>
                <c:pt idx="16">
                  <c:v>0.997</c:v>
                </c:pt>
                <c:pt idx="17">
                  <c:v>0.9990000000000001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ref68</c:v>
                </c:pt>
              </c:strCache>
            </c:strRef>
          </c:tx>
          <c:spPr>
            <a:ln w="12700" cap="flat">
              <a:solidFill>
                <a:srgbClr val="CC0033"/>
              </a:solidFill>
              <a:prstDash val="dash"/>
              <a:round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0.68</c:v>
                </c:pt>
                <c:pt idx="1">
                  <c:v>0.68</c:v>
                </c:pt>
                <c:pt idx="2">
                  <c:v>0.68</c:v>
                </c:pt>
                <c:pt idx="3">
                  <c:v>0.68</c:v>
                </c:pt>
                <c:pt idx="4">
                  <c:v>0.68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ref76</c:v>
                </c:pt>
              </c:strCache>
            </c:strRef>
          </c:tx>
          <c:spPr>
            <a:ln w="12700" cap="flat">
              <a:solidFill>
                <a:srgbClr val="7F7F7F"/>
              </a:solidFill>
              <a:prstDash val="dash"/>
              <a:round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0.76</c:v>
                </c:pt>
                <c:pt idx="1">
                  <c:v>0.76</c:v>
                </c:pt>
                <c:pt idx="2">
                  <c:v>0.76</c:v>
                </c:pt>
                <c:pt idx="3">
                  <c:v>0.76</c:v>
                </c:pt>
                <c:pt idx="4">
                  <c:v>0.76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% of users, heaviest first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126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112</c:v>
                </c:pt>
                <c:pt idx="1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141</c:v>
                </c:pt>
                <c:pt idx="1">
                  <c:v>29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101</c:v>
                </c:pt>
                <c:pt idx="1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165</c:v>
                </c:pt>
                <c:pt idx="1">
                  <c:v>36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0.117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0.13</c:v>
                </c:pt>
              </c:numCache>
            </c:numRef>
          </c:val>
        </c:ser>
        <c:dLbls>
          <c:numFmt formatCode="&quot;$&quot;0.00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numFmt formatCode="&quot;$&quot;0.0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Higher-cost model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0.365</c:v>
                </c:pt>
                <c:pt idx="1">
                  <c:v>0.285</c:v>
                </c:pt>
                <c:pt idx="2">
                  <c:v>0.321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Sonnet 5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</c:v>
                </c:pt>
                <c:pt idx="1">
                  <c:v>0.334</c:v>
                </c:pt>
                <c:pt idx="2">
                  <c:v>0.311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Sonnet 4.6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0.437</c:v>
                </c:pt>
                <c:pt idx="1">
                  <c:v>0.361</c:v>
                </c:pt>
                <c:pt idx="2">
                  <c:v>0.354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delete val="1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0.008</c:v>
                </c:pt>
                <c:pt idx="1">
                  <c:v>0.02</c:v>
                </c:pt>
                <c:pt idx="2">
                  <c:v>0.014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Claude-assigned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Membership</c:v>
                  </c:pt>
                  <c:pt idx="1">
                    <c:v>Marketing</c:v>
                  </c:pt>
                  <c:pt idx="2">
                    <c:v>Technology</c:v>
                  </c:pt>
                  <c:pt idx="3">
                    <c:v>Operations</c:v>
                  </c:pt>
                  <c:pt idx="4">
                    <c:v>Enterprise Analytics</c:v>
                  </c:pt>
                  <c:pt idx="5">
                    <c:v>Human Resources</c:v>
                  </c:pt>
                  <c:pt idx="6">
                    <c:v>Finance</c:v>
                  </c:pt>
                  <c:pt idx="7">
                    <c:v>Merchandising</c:v>
                  </c:pt>
                  <c:pt idx="8">
                    <c:v>Shared Services</c:v>
                  </c:pt>
                  <c:pt idx="9">
                    <c:v>Legal</c:v>
                  </c:pt>
                  <c:pt idx="10">
                    <c:v>Strategy &amp; Dev.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0.84</c:v>
                </c:pt>
                <c:pt idx="5">
                  <c:v>0</c:v>
                </c:pt>
                <c:pt idx="6">
                  <c:v>0.94</c:v>
                </c:pt>
                <c:pt idx="7">
                  <c:v>0.95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ChatGPT-assigned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Membership</c:v>
                  </c:pt>
                  <c:pt idx="1">
                    <c:v>Marketing</c:v>
                  </c:pt>
                  <c:pt idx="2">
                    <c:v>Technology</c:v>
                  </c:pt>
                  <c:pt idx="3">
                    <c:v>Operations</c:v>
                  </c:pt>
                  <c:pt idx="4">
                    <c:v>Enterprise Analytics</c:v>
                  </c:pt>
                  <c:pt idx="5">
                    <c:v>Human Resources</c:v>
                  </c:pt>
                  <c:pt idx="6">
                    <c:v>Finance</c:v>
                  </c:pt>
                  <c:pt idx="7">
                    <c:v>Merchandising</c:v>
                  </c:pt>
                  <c:pt idx="8">
                    <c:v>Shared Services</c:v>
                  </c:pt>
                  <c:pt idx="9">
                    <c:v>Legal</c:v>
                  </c:pt>
                  <c:pt idx="10">
                    <c:v>Strategy &amp; Dev.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0.73</c:v>
                </c:pt>
                <c:pt idx="1">
                  <c:v>0.78</c:v>
                </c:pt>
                <c:pt idx="2">
                  <c:v>0.83</c:v>
                </c:pt>
                <c:pt idx="3">
                  <c:v>0.84</c:v>
                </c:pt>
                <c:pt idx="4">
                  <c:v>0</c:v>
                </c:pt>
                <c:pt idx="5">
                  <c:v>0.9</c:v>
                </c:pt>
                <c:pt idx="6">
                  <c:v>0</c:v>
                </c:pt>
                <c:pt idx="7">
                  <c:v>0</c:v>
                </c:pt>
                <c:pt idx="8">
                  <c:v>0.95</c:v>
                </c:pt>
                <c:pt idx="9">
                  <c:v>0</c:v>
                </c:pt>
                <c:pt idx="10">
                  <c:v>1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635</c:v>
                </c:pt>
                <c:pt idx="1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976</c:v>
                </c:pt>
                <c:pt idx="1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1080</c:v>
                </c:pt>
                <c:pt idx="1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125</c:v>
                </c:pt>
                <c:pt idx="1">
                  <c:v>63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numFmt formatCode="0&quot;M&quot;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0.88</c:v>
                </c:pt>
                <c:pt idx="1">
                  <c:v>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0.91</c:v>
                </c:pt>
                <c:pt idx="1">
                  <c:v>0.62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departments (262)</c:v>
                  </c:pt>
                  <c:pt idx="1">
                    <c:v>Merchandising (53)</c:v>
                  </c:pt>
                  <c:pt idx="2">
                    <c:v>Enterprise 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Human Resources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&amp; Dev. (7)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0.25572519083969464</c:v>
                </c:pt>
                <c:pt idx="1">
                  <c:v>0.2830188679245283</c:v>
                </c:pt>
                <c:pt idx="2">
                  <c:v>0.4444444444444444</c:v>
                </c:pt>
                <c:pt idx="3">
                  <c:v>0.10810810810810811</c:v>
                </c:pt>
                <c:pt idx="4">
                  <c:v>0.18181818181818182</c:v>
                </c:pt>
                <c:pt idx="5">
                  <c:v>0.13793103448275862</c:v>
                </c:pt>
                <c:pt idx="6">
                  <c:v>0.2777777777777778</c:v>
                </c:pt>
                <c:pt idx="7">
                  <c:v>0.0625</c:v>
                </c:pt>
                <c:pt idx="8">
                  <c:v>0.4444444444444444</c:v>
                </c:pt>
                <c:pt idx="9">
                  <c:v>0.375</c:v>
                </c:pt>
                <c:pt idx="10">
                  <c:v>0.2857142857142857</c:v>
                </c:pt>
                <c:pt idx="11">
                  <c:v>0.42857142857142855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departments (262)</c:v>
                  </c:pt>
                  <c:pt idx="1">
                    <c:v>Merchandising (53)</c:v>
                  </c:pt>
                  <c:pt idx="2">
                    <c:v>Enterprise 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Human Resources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&amp; Dev. (7)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0.21374045801526717</c:v>
                </c:pt>
                <c:pt idx="1">
                  <c:v>0.18867924528301888</c:v>
                </c:pt>
                <c:pt idx="2">
                  <c:v>0.13333333333333333</c:v>
                </c:pt>
                <c:pt idx="3">
                  <c:v>0.1891891891891892</c:v>
                </c:pt>
                <c:pt idx="4">
                  <c:v>0.30303030303030304</c:v>
                </c:pt>
                <c:pt idx="5">
                  <c:v>0.1724137931034483</c:v>
                </c:pt>
                <c:pt idx="6">
                  <c:v>0.2777777777777778</c:v>
                </c:pt>
                <c:pt idx="7">
                  <c:v>0.4375</c:v>
                </c:pt>
                <c:pt idx="8">
                  <c:v>0.1111111111111111</c:v>
                </c:pt>
                <c:pt idx="9">
                  <c:v>0.25</c:v>
                </c:pt>
                <c:pt idx="10">
                  <c:v>0.42857142857142855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departments (262)</c:v>
                  </c:pt>
                  <c:pt idx="1">
                    <c:v>Merchandising (53)</c:v>
                  </c:pt>
                  <c:pt idx="2">
                    <c:v>Enterprise 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Human Resources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&amp; Dev. (7)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0.15648854961832062</c:v>
                </c:pt>
                <c:pt idx="1">
                  <c:v>0.1320754716981132</c:v>
                </c:pt>
                <c:pt idx="2">
                  <c:v>0.06666666666666667</c:v>
                </c:pt>
                <c:pt idx="3">
                  <c:v>0.2702702702702703</c:v>
                </c:pt>
                <c:pt idx="4">
                  <c:v>0.18181818181818182</c:v>
                </c:pt>
                <c:pt idx="5">
                  <c:v>0.10344827586206896</c:v>
                </c:pt>
                <c:pt idx="6">
                  <c:v>0.2222222222222222</c:v>
                </c:pt>
                <c:pt idx="7">
                  <c:v>0.125</c:v>
                </c:pt>
                <c:pt idx="8">
                  <c:v>0.1111111111111111</c:v>
                </c:pt>
                <c:pt idx="9">
                  <c:v>0.25</c:v>
                </c:pt>
                <c:pt idx="10">
                  <c:v>0</c:v>
                </c:pt>
                <c:pt idx="11">
                  <c:v>0.42857142857142855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 work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departments (262)</c:v>
                  </c:pt>
                  <c:pt idx="1">
                    <c:v>Merchandising (53)</c:v>
                  </c:pt>
                  <c:pt idx="2">
                    <c:v>Enterprise 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Human Resources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&amp; Dev. (7)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0.1297709923664122</c:v>
                </c:pt>
                <c:pt idx="1">
                  <c:v>0.05660377358490566</c:v>
                </c:pt>
                <c:pt idx="2">
                  <c:v>0.2</c:v>
                </c:pt>
                <c:pt idx="3">
                  <c:v>0.2702702702702703</c:v>
                </c:pt>
                <c:pt idx="4">
                  <c:v>0.15151515151515152</c:v>
                </c:pt>
                <c:pt idx="5">
                  <c:v>0.13793103448275862</c:v>
                </c:pt>
                <c:pt idx="6">
                  <c:v>0.05555555555555555</c:v>
                </c:pt>
                <c:pt idx="7">
                  <c:v>0.0625</c:v>
                </c:pt>
                <c:pt idx="8">
                  <c:v>0.1111111111111111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departments (262)</c:v>
                  </c:pt>
                  <c:pt idx="1">
                    <c:v>Merchandising (53)</c:v>
                  </c:pt>
                  <c:pt idx="2">
                    <c:v>Enterprise 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Human Resources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&amp; Dev. (7)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0.24427480916030533</c:v>
                </c:pt>
                <c:pt idx="1">
                  <c:v>0.33962264150943394</c:v>
                </c:pt>
                <c:pt idx="2">
                  <c:v>0.15555555555555556</c:v>
                </c:pt>
                <c:pt idx="3">
                  <c:v>0.16216216216216217</c:v>
                </c:pt>
                <c:pt idx="4">
                  <c:v>0.18181818181818182</c:v>
                </c:pt>
                <c:pt idx="5">
                  <c:v>0.4482758620689655</c:v>
                </c:pt>
                <c:pt idx="6">
                  <c:v>0.16666666666666666</c:v>
                </c:pt>
                <c:pt idx="7">
                  <c:v>0.3125</c:v>
                </c:pt>
                <c:pt idx="8">
                  <c:v>0.2222222222222222</c:v>
                </c:pt>
                <c:pt idx="9">
                  <c:v>0.125</c:v>
                </c:pt>
                <c:pt idx="10">
                  <c:v>0.2857142857142857</c:v>
                </c:pt>
                <c:pt idx="11">
                  <c:v>0.14285714285714285</c:v>
                </c:pt>
              </c:numCache>
            </c:numRef>
          </c:val>
        </c:ser>
        <c:dLbls>
          <c:numFmt formatCode="[&lt;0.08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12"/>
          <c:w val="0.8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0.13740458015267176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Weekly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0.29770992366412213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0.17557251908396945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Quarterly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0.08396946564885496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Ad hoc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0.3053435114503817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12"/>
          <c:w val="0.8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Saved prompt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Skill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Project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One-time prompt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48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Not classified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69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1627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1087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993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275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241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126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20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 117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45"/>
          <c:y val="0.03"/>
          <c:w val="0.95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&amp; analysis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0.3020833333333333</c:v>
                </c:pt>
                <c:pt idx="1">
                  <c:v>0.17857142857142858</c:v>
                </c:pt>
                <c:pt idx="2">
                  <c:v>0.5</c:v>
                </c:pt>
                <c:pt idx="3">
                  <c:v>0.3333333333333333</c:v>
                </c:pt>
                <c:pt idx="4">
                  <c:v>0.6666666666666666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0.16666666666666666</c:v>
                </c:pt>
                <c:pt idx="8">
                  <c:v>0</c:v>
                </c:pt>
                <c:pt idx="9">
                  <c:v>0.25</c:v>
                </c:pt>
                <c:pt idx="10">
                  <c:v>0.75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Summarizing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0.13541666666666666</c:v>
                </c:pt>
                <c:pt idx="1">
                  <c:v>0.21428571428571427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0.16666666666666666</c:v>
                </c:pt>
                <c:pt idx="6">
                  <c:v>0.3333333333333333</c:v>
                </c:pt>
                <c:pt idx="7">
                  <c:v>0</c:v>
                </c:pt>
                <c:pt idx="8">
                  <c:v>0.6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Content creation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0.11458333333333333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0.08333333333333333</c:v>
                </c:pt>
                <c:pt idx="4">
                  <c:v>0.16666666666666666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0.3333333333333333</c:v>
                </c:pt>
                <c:pt idx="8">
                  <c:v>0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Structuring information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0.10416666666666667</c:v>
                </c:pt>
                <c:pt idx="1">
                  <c:v>0.07142857142857142</c:v>
                </c:pt>
                <c:pt idx="2">
                  <c:v>0</c:v>
                </c:pt>
                <c:pt idx="3">
                  <c:v>0.25</c:v>
                </c:pt>
                <c:pt idx="4">
                  <c:v>0</c:v>
                </c:pt>
                <c:pt idx="5">
                  <c:v>0.16666666666666666</c:v>
                </c:pt>
                <c:pt idx="6">
                  <c:v>0.16666666666666666</c:v>
                </c:pt>
                <c:pt idx="7">
                  <c:v>0.5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Visual concepting</c:v>
                </c:pt>
              </c:strCache>
            </c:strRef>
          </c:tx>
          <c:spPr>
            <a:solidFill>
              <a:srgbClr val="1B75BC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0.09375</c:v>
                </c:pt>
                <c:pt idx="1">
                  <c:v>0.14285714285714285</c:v>
                </c:pt>
                <c:pt idx="2">
                  <c:v>0.0625</c:v>
                </c:pt>
                <c:pt idx="3">
                  <c:v>0.08333333333333333</c:v>
                </c:pt>
                <c:pt idx="4">
                  <c:v>0</c:v>
                </c:pt>
                <c:pt idx="5">
                  <c:v>0</c:v>
                </c:pt>
                <c:pt idx="6">
                  <c:v>0.16666666666666666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0.6666666666666666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 and synthesis</c:v>
                </c:pt>
              </c:strCache>
            </c:strRef>
          </c:tx>
          <c:spPr>
            <a:solidFill>
              <a:srgbClr val="CE9B41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0.08333333333333333</c:v>
                </c:pt>
                <c:pt idx="1">
                  <c:v>0.14285714285714285</c:v>
                </c:pt>
                <c:pt idx="2">
                  <c:v>0.0625</c:v>
                </c:pt>
                <c:pt idx="3">
                  <c:v>0.08333333333333333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</c:v>
                </c:pt>
                <c:pt idx="10">
                  <c:v>0.25</c:v>
                </c:pt>
                <c:pt idx="11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Code and formulas</c:v>
                </c:pt>
              </c:strCache>
            </c:strRef>
          </c:tx>
          <c:spPr>
            <a:solidFill>
              <a:srgbClr val="8FBCE6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0.07291666666666667</c:v>
                </c:pt>
                <c:pt idx="1">
                  <c:v>0.10714285714285714</c:v>
                </c:pt>
                <c:pt idx="2">
                  <c:v>0.125</c:v>
                </c:pt>
                <c:pt idx="3">
                  <c:v>0</c:v>
                </c:pt>
                <c:pt idx="4">
                  <c:v>0.16666666666666666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0.3333333333333333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Brainstorming</c:v>
                </c:pt>
              </c:strCache>
            </c:strRef>
          </c:tx>
          <c:spPr>
            <a:solidFill>
              <a:srgbClr val="E8D3A9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Sheet1!$I$2:$I$13</c:f>
              <c:numCache>
                <c:formatCode>General</c:formatCode>
                <c:ptCount val="12"/>
                <c:pt idx="0">
                  <c:v>0.052083333333333336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0.16666666666666666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Sheet1!$J$2:$J$13</c:f>
              <c:numCache>
                <c:formatCode>General</c:formatCode>
                <c:ptCount val="12"/>
                <c:pt idx="0">
                  <c:v>0.041666666666666664</c:v>
                </c:pt>
                <c:pt idx="1">
                  <c:v>0.07142857142857142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3.81</c:v>
                </c:pt>
                <c:pt idx="1">
                  <c:v>4.04</c:v>
                </c:pt>
                <c:pt idx="2">
                  <c:v>3.92</c:v>
                </c:pt>
                <c:pt idx="3">
                  <c:v>3.73</c:v>
                </c:pt>
                <c:pt idx="4">
                  <c:v>3.88</c:v>
                </c:pt>
                <c:pt idx="5">
                  <c:v>3.85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3.99</c:v>
                </c:pt>
                <c:pt idx="1">
                  <c:v>4.2</c:v>
                </c:pt>
                <c:pt idx="2">
                  <c:v>4.18</c:v>
                </c:pt>
                <c:pt idx="3">
                  <c:v>3.93</c:v>
                </c:pt>
                <c:pt idx="4">
                  <c:v>4.01</c:v>
                </c:pt>
                <c:pt idx="5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4"/>
          <c:min val="3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0.71</c:v>
                </c:pt>
                <c:pt idx="2">
                  <c:v>0.6</c:v>
                </c:pt>
                <c:pt idx="3">
                  <c:v>0.62</c:v>
                </c:pt>
                <c:pt idx="4">
                  <c:v>0.54</c:v>
                </c:pt>
                <c:pt idx="5">
                  <c:v>0.5</c:v>
                </c:pt>
                <c:pt idx="6">
                  <c:v>0.44</c:v>
                </c:pt>
                <c:pt idx="7">
                  <c:v>0.44</c:v>
                </c:pt>
                <c:pt idx="8">
                  <c:v>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0.08</c:v>
                </c:pt>
                <c:pt idx="4">
                  <c:v>0.21</c:v>
                </c:pt>
                <c:pt idx="5">
                  <c:v>0.13</c:v>
                </c:pt>
                <c:pt idx="6">
                  <c:v>0.22</c:v>
                </c:pt>
                <c:pt idx="7">
                  <c:v>0.12</c:v>
                </c:pt>
                <c:pt idx="8">
                  <c:v>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0.29</c:v>
                </c:pt>
                <c:pt idx="2">
                  <c:v>0.2</c:v>
                </c:pt>
                <c:pt idx="3">
                  <c:v>0.31</c:v>
                </c:pt>
                <c:pt idx="4">
                  <c:v>0.25</c:v>
                </c:pt>
                <c:pt idx="5">
                  <c:v>0.37</c:v>
                </c:pt>
                <c:pt idx="6">
                  <c:v>0.34</c:v>
                </c:pt>
                <c:pt idx="7">
                  <c:v>0.44</c:v>
                </c:pt>
                <c:pt idx="8">
                  <c:v>0.55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0.54</c:v>
                </c:pt>
                <c:pt idx="1">
                  <c:v>1</c:v>
                </c:pt>
                <c:pt idx="2">
                  <c:v>1</c:v>
                </c:pt>
                <c:pt idx="3">
                  <c:v>0.75</c:v>
                </c:pt>
                <c:pt idx="4">
                  <c:v>0.67</c:v>
                </c:pt>
                <c:pt idx="5">
                  <c:v>0.6</c:v>
                </c:pt>
                <c:pt idx="6">
                  <c:v>0.54</c:v>
                </c:pt>
                <c:pt idx="7">
                  <c:v>0.5</c:v>
                </c:pt>
                <c:pt idx="8">
                  <c:v>0.5</c:v>
                </c:pt>
                <c:pt idx="9">
                  <c:v>0.33</c:v>
                </c:pt>
                <c:pt idx="10">
                  <c:v>0.27</c:v>
                </c:pt>
                <c:pt idx="1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</c:v>
                </c:pt>
                <c:pt idx="6">
                  <c:v>0.07</c:v>
                </c:pt>
                <c:pt idx="7">
                  <c:v>0.19</c:v>
                </c:pt>
                <c:pt idx="8">
                  <c:v>0.17</c:v>
                </c:pt>
                <c:pt idx="9">
                  <c:v>0.17</c:v>
                </c:pt>
                <c:pt idx="10">
                  <c:v>0.27</c:v>
                </c:pt>
                <c:pt idx="11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0.32</c:v>
                </c:pt>
                <c:pt idx="1">
                  <c:v>0</c:v>
                </c:pt>
                <c:pt idx="2">
                  <c:v>0</c:v>
                </c:pt>
                <c:pt idx="3">
                  <c:v>0.25</c:v>
                </c:pt>
                <c:pt idx="4">
                  <c:v>0.33</c:v>
                </c:pt>
                <c:pt idx="5">
                  <c:v>0.2</c:v>
                </c:pt>
                <c:pt idx="6">
                  <c:v>0.39</c:v>
                </c:pt>
                <c:pt idx="7">
                  <c:v>0.31</c:v>
                </c:pt>
                <c:pt idx="8">
                  <c:v>0.33</c:v>
                </c:pt>
                <c:pt idx="9">
                  <c:v>0.5</c:v>
                </c:pt>
                <c:pt idx="10">
                  <c:v>0.46</c:v>
                </c:pt>
                <c:pt idx="11">
                  <c:v>0.25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Depends on the task</c:v>
                </c:pt>
              </c:strCache>
            </c:strRef>
          </c:tx>
          <c:spPr>
            <a:solidFill>
              <a:srgbClr val="1B75B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 preference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hyperlink" Target="https://www.bcg.com/publications/2026/ai-at-work-why-strategy-matters-more-than-tool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engagement is broad, sustained, and growing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AI pilot engagement 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 broad and rose every month of the pilot.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of Claude and 77% of ChatGPT license holders were active in September, and every department is above 70%.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stayed active every month of the pilot.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of Claude and 64% of ChatGPT users were active in all three months.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using AI more each month.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July, spend per active Claude user is up 37%, and ChatGPT tokens per active user have more than tripled.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spreading beyond the heaviest users.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20% of users still account for about 70% of use, but light users are the fastest-growing group on both tools.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experimenting far more than Connect users.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September, Champions used Claude 2.8 times and ChatGPT 2 times as much as Connect users.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spend is growing with use, while each request costs less than at launch.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is 15% below July, though it rose 11% in September; </a:t>
            </a:r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[total spend trend to come]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in 11 departments, excluding Exec, July to September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kept rising month over month through the pilot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license holders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rose on both tools even as departures reduced the number of license holders.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not yet active hold ChatGPT licenses (87 of 113).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reference, 74% of frontline employees globally report using AI daily or weekly (BCG, June 2026).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holders, net of departures (July, August, September): Claude 301, 298, 289; ChatGPT 399, 391, 378.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users: team members other than Champions with a Claude and/or ChatGPT license as of July 2026; 11 departments, excluding Exec.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</a:t>
            </a:r>
            <a:r>
              <a:rPr lang="en-US" sz="1200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BCG, AI at Work, June 2026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(about 12,000 employees, 12+ countries); self-reported use of any AI tool, not licensed-seat usage.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4592574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4757166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542467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5589270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2" name="Legend sq 12"/>
          <p:cNvSpPr/>
          <p:nvPr/>
        </p:nvSpPr>
        <p:spPr>
          <a:xfrm>
            <a:off x="6412230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Legend tx 13"/>
          <p:cNvSpPr txBox="1"/>
          <p:nvPr/>
        </p:nvSpPr>
        <p:spPr>
          <a:xfrm>
            <a:off x="6576822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was sustained over time and has increased for most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holders by number of months active, July to September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spend per active user ($)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98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active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23444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6364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909828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license holders were active in every month of the pilot.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July, spend per active Claude user rose 37% and ChatGPT tokens per active user more than tripled.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of ChatGPT license holders never used it; those licenses can be reassigned in Phase 2.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Spend excludes the license fee. Growth compares September with July, on unrounded values.</a:t>
            </a:r>
            <a:endParaRPr lang="en-US" sz="1200" dirty="0"/>
          </a:p>
        </p:txBody>
      </p:sp>
      <p:sp>
        <p:nvSpPr>
          <p:cNvPr id="13" name="Legend sq 13"/>
          <p:cNvSpPr/>
          <p:nvPr/>
        </p:nvSpPr>
        <p:spPr>
          <a:xfrm>
            <a:off x="187452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4" name="Legend tx 14"/>
          <p:cNvSpPr txBox="1"/>
          <p:nvPr/>
        </p:nvSpPr>
        <p:spPr>
          <a:xfrm>
            <a:off x="352044" y="459943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months</a:t>
            </a:r>
            <a:endParaRPr lang="en-US" sz="1200" dirty="0"/>
          </a:p>
        </p:txBody>
      </p:sp>
      <p:sp>
        <p:nvSpPr>
          <p:cNvPr id="15" name="Legend sq 15"/>
          <p:cNvSpPr/>
          <p:nvPr/>
        </p:nvSpPr>
        <p:spPr>
          <a:xfrm>
            <a:off x="164134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" name="Legend tx 16"/>
          <p:cNvSpPr txBox="1"/>
          <p:nvPr/>
        </p:nvSpPr>
        <p:spPr>
          <a:xfrm>
            <a:off x="1805940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3 months</a:t>
            </a:r>
            <a:endParaRPr lang="en-US" sz="1200" dirty="0"/>
          </a:p>
        </p:txBody>
      </p:sp>
      <p:sp>
        <p:nvSpPr>
          <p:cNvPr id="17" name="Legend sq 17"/>
          <p:cNvSpPr/>
          <p:nvPr/>
        </p:nvSpPr>
        <p:spPr>
          <a:xfrm>
            <a:off x="317296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Legend tx 18"/>
          <p:cNvSpPr txBox="1"/>
          <p:nvPr/>
        </p:nvSpPr>
        <p:spPr>
          <a:xfrm>
            <a:off x="3337560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3 months</a:t>
            </a:r>
            <a:endParaRPr lang="en-US" sz="1200" dirty="0"/>
          </a:p>
        </p:txBody>
      </p:sp>
      <p:sp>
        <p:nvSpPr>
          <p:cNvPr id="19" name="Legend sq 19"/>
          <p:cNvSpPr/>
          <p:nvPr/>
        </p:nvSpPr>
        <p:spPr>
          <a:xfrm>
            <a:off x="4704588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0" name="Legend tx 20"/>
          <p:cNvSpPr txBox="1"/>
          <p:nvPr/>
        </p:nvSpPr>
        <p:spPr>
          <a:xfrm>
            <a:off x="4869180" y="459943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concentrated among heavy users, but growth comes from the broader base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% of September usage, by % of users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spend per user ($)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98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user (M)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23444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6364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909828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7623810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78840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455914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62050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4434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608058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fifth of users account for about 70% of usage on both tools.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users' use per person doubled on Claude and grew about tenfold on ChatGPT since July.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users added more total usage than heavy users on both tools.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Claude measured by spend, ChatGPT by tokens. Growth uses unrounded values.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users: top 20% of July-active users by July usage (Claude 49, ChatGPT 55); light users: the rest (195, 220). Groups fixed by July rank.</a:t>
            </a:r>
            <a:endParaRPr lang="en-US" sz="1200" dirty="0"/>
          </a:p>
        </p:txBody>
      </p:sp>
      <p:sp>
        <p:nvSpPr>
          <p:cNvPr id="19" name="Legend sq 19"/>
          <p:cNvSpPr/>
          <p:nvPr/>
        </p:nvSpPr>
        <p:spPr>
          <a:xfrm>
            <a:off x="101955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0" name="Legend tx 20"/>
          <p:cNvSpPr txBox="1"/>
          <p:nvPr/>
        </p:nvSpPr>
        <p:spPr>
          <a:xfrm>
            <a:off x="1184148" y="4599432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(% of spend)</a:t>
            </a:r>
            <a:endParaRPr lang="en-US" sz="1200" dirty="0"/>
          </a:p>
        </p:txBody>
      </p:sp>
      <p:sp>
        <p:nvSpPr>
          <p:cNvPr id="21" name="Legend sq 21"/>
          <p:cNvSpPr/>
          <p:nvPr/>
        </p:nvSpPr>
        <p:spPr>
          <a:xfrm>
            <a:off x="301752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2" name="Legend tx 22"/>
          <p:cNvSpPr txBox="1"/>
          <p:nvPr/>
        </p:nvSpPr>
        <p:spPr>
          <a:xfrm>
            <a:off x="3182112" y="4599432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(% of tokens)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 per request is lower than at launch, even as usage grows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average cost per request ($)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spend by model (% of total)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30358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September: −15% vs. July, +11% vs. August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3649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per person ($)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9312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234440"/>
                <a:gridCol w="12344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25th percentile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75th percentile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6263640" y="1234440"/>
          <a:ext cx="55321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6508242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672834" y="459943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Higher-cost model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35075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515350" y="4599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49375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658350" y="459943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0792206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095679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is 15% below July, as more usage moved to lower-cost models.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September rise reflects new users trying the higher-cost model, not a reversal of the trend.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guidance on when to use the higher-cost model will keep costs down in Phase 2.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Claude: 301 license holders; 255 active in July, </a:t>
            </a:r>
            <a:pPr indent="0" marL="0">
              <a:buNone/>
            </a:pPr>
            <a:r>
              <a:rPr lang="en-US" sz="120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 in August.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on the assigned tool is high across departments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license holders on the assigned tool, by department, September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11 departments are at 90% or above, and none is below 70%.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lowest, Membership and Marketing, are about 6 and 2 people short of full adoption.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September. Subset of AI Connect users holding their department's assigned tool; departures excluded. Membership: 22 users; Marketing: 9.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4386834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4551426" y="459943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Claude-assigned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6073902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6238494" y="45994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ChatGPT-assigned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experimenting far more than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requests per active user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active user (M)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234440"/>
          <a:ext cx="55321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674870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3946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06974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67156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452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659118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use Claude about 3 times and ChatGPT about 2 times as much as Connect users.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lead is steady on Claude and widening on ChatGPT, from 1.4 times in July to 2.0 times in September.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experimentation builds the examples and know-how Connect users can reuse in Phase 2.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active user. AI Connect users: 11 departments, excluding Exec. </a:t>
            </a:r>
            <a:pPr indent="0" marL="0">
              <a:buNone/>
            </a:pPr>
            <a:r>
              <a:rPr lang="en-US" sz="12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[Claude chart to switch to spend per active user when Champion spend data is available]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access to both tools, Claude adoption leads and the gap is widening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people licensed for both tools (164 people)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both tools available, 91% use Claude and 62% use ChatGPT, so access does not explain the gap.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lead widened from 27 to 29 points over the pilot.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preference should weigh in the tool decision.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licensed for both Claude and ChatGPT; departures excluded.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4592574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4757166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542467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5589270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2" name="Legend sq 12"/>
          <p:cNvSpPr/>
          <p:nvPr/>
        </p:nvSpPr>
        <p:spPr>
          <a:xfrm>
            <a:off x="6412230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Legend tx 13"/>
          <p:cNvSpPr txBox="1"/>
          <p:nvPr/>
        </p:nvSpPr>
        <p:spPr>
          <a:xfrm>
            <a:off x="6576822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show AI moving into regular work and saving time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AI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use AI for different kinds of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use cases came from 11 departments; Enterprise Analytics leans on analysis, Legal and HR on drafting.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are recurring, not one-off.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of 262 (69%) recur, and 114 (44%) happen daily or weekly.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produced something others can reuse.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 of 262 (55%) created a saved prompt, skill or Claude Project.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are spread widely, led by four task types.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117 use cases with an hours estimate save 6,453 hours a year; the top 20 deliver 57%.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generated about half of the hours saved.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6% of licensed users but generated 48% of hours saved.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extend beyond time saved.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submissions describe better decisions, fewer errors or avoided costs; </a:t>
            </a:r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examples being confirmed with submission owners]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AI use case submissions from AI Connect users and Champions, Phase 1.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and use cases by Champions and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engagement / correlation analysis by Champions and Connect users]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use AI for different kinds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task type, % of each department’s use cases (number of use cases)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337560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50215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2836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67428" y="4599432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12664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77256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3388" y="4668012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97980" y="459943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42732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07324" y="4599432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 leans on analysis (44%), while Legal and HR lean on drafting (43 to 44%).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splits between summarizing and technical work; Finance spreads across many task types.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Other: research, review, data extraction, coaching and brainstorming. Labels under 8% not shown.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are recurring, not one-off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how often they happen (% of 262)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and weekly use cases by task type (114)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40587" y="1337310"/>
            <a:ext cx="1779422" cy="2978658"/>
          </a:xfrm>
          <a:prstGeom prst="rect">
            <a:avLst/>
          </a:prstGeom>
          <a:ln w="12700">
            <a:solidFill>
              <a:srgbClr val="7F7F7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013155" y="1373886"/>
            <a:ext cx="1834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weekly: 44%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234440"/>
          <a:ext cx="5532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of use cases recur, and 44% happen daily or weekly: AI is part of routine work, not occasional experiments.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task types account for 82% of daily and weekly use: summarizing, analyzing, drafting and technical work.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recurring tasks are where Phase 2 training and shared prompts will reach the most people.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as reported in submissions: 36 daily, 78 weekly, 46 monthly, 22 quarterly, 80 ad hoc.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produced something others can reuse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type of reusable asset (262)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assets by task type (145)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40587" y="1337310"/>
            <a:ext cx="2696566" cy="2978658"/>
          </a:xfrm>
          <a:prstGeom prst="rect">
            <a:avLst/>
          </a:prstGeom>
          <a:ln w="12700">
            <a:solidFill>
              <a:srgbClr val="7F7F7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013155" y="1373886"/>
            <a:ext cx="2751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Reusable: 145 (55%)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234440"/>
          <a:ext cx="5532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half of use cases created a saved prompt, skill or Claude Project, most often a saved prompt.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task types that recur most also produce 77% of reusable assets.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assets are a ready-made library to share across departments in Phase 2.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submissions did not classify reuse and are counted as not reusable.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are spread widely, led by four task types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hours saved, by task type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 saved, by number of use cases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234440"/>
          <a:ext cx="5532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117 use cases with an hours estimate save 6,453 hours a year; four task types account for 84%.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20 use cases deliver 57% of hours, yet 43% comes from the other 97: value does not rest on a few cases.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6% of licensed users but generated 48% of hours saved.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annualized estimates from submissions. 145 of 262 submissions had no usable hours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extend beyond time saved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submissions describe business benefits beyond time saved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 and visibility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employees spot issues and weigh choices earlier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Transfer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merchants earlier visibility into sales and margin effects of Keep/Delist decisions.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tenure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new quantitative view of article lifecycles across more than 40,000 articles.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6230" y="1280160"/>
            <a:ext cx="0" cy="338328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48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errors and lower risk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482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482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strengthens checks employees used to do by hand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7482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scanning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a high-impact vulnerability in the gift-card refund process.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7482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 calculation automation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manual calculation errors and standardized the method across B2B Terms customers.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35290" y="1280160"/>
            <a:ext cx="0" cy="338328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cost and new capability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 cases replace outside services or add skills teams lacked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Learn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analysis in-house that employees compared with software costing more than $1 million.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Perishables POG automation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work included in about $1 million of outsourced spending.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663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confirm with submission owners]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understates the value: several use cases changed decisions, reduced risk or replaced outside spend.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should capture these benefits alongside hours, so the full value is visible.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selected from 35 submissions describing benefits beyond time saved.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is needed to unlock broader value from the tools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what else is needed to unlock broader value]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comparison favors Claude on every measure, by a modest margin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tool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96 real tasks from their own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departments; each task scored on six dimensions, then a preferred tool chosen per task and overall.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of 0.13 to 0.26 points on a 5-point scale; largest in clarity and tone and in trust and accuracy.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the preferred tool on most tasks and in most kinds of work.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on 54% of tasks and in 7 of 9 kinds of work; ChatGPT led only in content creation.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chose Claude nearly four to one.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27 Champions with a clear answer chose Claude, 4 chose ChatGPT; 8 said both or that it depends.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results and Champions’ preferences point the same way in 9 of 11 departments.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HR differ: their tasks favor Claude, their Champions prefer ChatGPT.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to follow.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[pending: cost per seat, decision owner, prior intent]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comparison challenge, Phase 1: 34 Champions, 96 tasks. Task shares exclude 2 tasks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their own real tasks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comparison was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870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9738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657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TASKS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Champion chose three real tasks from their own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042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04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2910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9748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TOOLS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prompt and inputs went into Claude and ChatGPT.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9214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921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6082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029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FIRST RESPONSE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quality, instruction-following, and clarity and tone.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386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238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89254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609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AND VERIFY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the task, then scored effort, time saved and trust in results.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35558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555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WINNER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the preferred tool for each task and explained why.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tested their own work, so the results reflect BJ’s tasks rather than vendor benchmarks.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was scored on the same six dimensions, then a preferred tool was chosen per task and overall.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across 11 departments; 34 Champions in scope, 27 gave an overall preference.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analysis was tested most, but each department tested a different mix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compared by theme,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705356" y="439369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69948" y="432511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2424" y="4393692"/>
            <a:ext cx="118872" cy="11887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57016" y="4325112"/>
            <a:ext cx="11475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68596" y="439369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33188" y="432511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3388" y="4393692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97980" y="4325112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information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42248" y="4393692"/>
            <a:ext cx="118872" cy="118872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06840" y="432511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concepting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37510" y="4668012"/>
            <a:ext cx="118872" cy="118872"/>
          </a:xfrm>
          <a:prstGeom prst="rect">
            <a:avLst/>
          </a:prstGeom>
          <a:solidFill>
            <a:srgbClr val="CE9B4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02102" y="45994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synthesis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68646" y="4668012"/>
            <a:ext cx="118872" cy="118872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33238" y="459943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formulas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11162" y="4668012"/>
            <a:ext cx="118872" cy="118872"/>
          </a:xfrm>
          <a:prstGeom prst="rect">
            <a:avLst/>
          </a:prstGeom>
          <a:solidFill>
            <a:srgbClr val="E8D3A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5754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42782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707374" y="4599432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work made up two-thirds of tests: data and analysis, summarizing, content creation and structuring.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 ran 46% of all tests; Strategy, Legal, Marketing and HR ran 3 to 5 each.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compared by Champions. Percentages are each department’s share of its own tasks.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dimensions, by a modest margin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 per task, by dimension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gaps: clarity and tone, and trust and accuracy, 0.26 points each; smallest: time saved, 0.13.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also needed less prompting to get there (3.93 vs 3.73; a higher score means less effort).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Champion score per task, 1 to 5. Prompt effort: a higher score means less effort. Axis starts at 3.0.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508635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525094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615162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631621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preferred in most kinds of work; ChatGPT only in content creation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tasks in each theme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led 7 of 9 kinds of work, tied in visual concepting, and trailed only in content creation (4 of 11 tasks).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data and analysis, the most-tested kind of work, Claude was preferred 15 to 7, with 6 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tasks with a Claude, ChatGPT or tied pick; excludes 2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departments preferred Claude; Merchandising and Shared Services leaned ChatGPT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Analytics, the two departments with 16 or more tasks, preferred Claude 15 to 11 and 8 to 5.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(3 to 2) and Merchandising (5 to 3) leaned ChatGPT; Marketing split 1 to 1 with 2 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tasks with a Claude, ChatGPT or tied pick; excludes 2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chose Claude nearly four to one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Champions’ preferred tool, by department (number of Champions)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87802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152394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75354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39946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40630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0522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72734" y="4668012"/>
            <a:ext cx="118872" cy="118872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7326" y="4599432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task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70698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35290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preference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27 Champions with a clear answer chose Claude, 4 chose ChatGPT; 8 said both or that it depends on the task.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Technology has more than four Champions; every other department shows two to four individual views.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Champions in scope. Labels show number of Champions. No preference: blank answer or no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results and Champions’ preferences agree in most departments; Analytics and HR differ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 by department: task results and Champions’ overall preference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10896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results (preferred tool per task)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Champions’ overall preference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15, ChatGPT 11, tied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5, ChatGPT 1, both 1, none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8, ChatGPT 5, tied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2, 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Differ: tasks favor Claude, Champions favor 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Merchandising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5, Claude 3, tied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2, 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no single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(6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1,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depends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Claude (5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2,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either tool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3, Claude 2,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depends on the 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(5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(4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ChatGPT 1, tied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 favor Claude; tasks split (4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2, ChatGPT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Differ: 3 tasks and one answer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is the one unresolved case with enough data: 16 tasks favor Claude, but 2 of 3 Champions prefer ChatGPT.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rests on 3 tasks and one Champion’s answer, too little to settle either way.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counts exclude 2 tasks marked Either or Neither. Champion counts show all answers given.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66666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2026-10-01T18:29:58Z</dcterms:created>
  <dcterms:modified xsi:type="dcterms:W3CDTF">2026-10-01T18:29:58Z</dcterms:modified>
</cp:coreProperties>
</file>