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400" b="1">
                        <a:solidFill>
                          <a:srgbClr val="000000"/>
                        </a:solidFill>
                        <a:latin typeface="Arial"/>
                      </a:rPr>
                      <a:t>85%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000000"/>
                        </a:solidFill>
                        <a:latin typeface="Arial"/>
                      </a:rPr>
                      <a:t>255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400" b="1">
                        <a:solidFill>
                          <a:srgbClr val="000000"/>
                        </a:solidFill>
                        <a:latin typeface="Arial"/>
                      </a:rPr>
                      <a:t>70%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000000"/>
                        </a:solidFill>
                        <a:latin typeface="Arial"/>
                      </a:rPr>
                      <a:t>280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</c:v>
                </c:pt>
                <c:pt idx="1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400" b="1">
                        <a:solidFill>
                          <a:srgbClr val="FFFFFF"/>
                        </a:solidFill>
                        <a:latin typeface="Arial"/>
                      </a:rPr>
                      <a:t>88%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261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400" b="1">
                        <a:solidFill>
                          <a:srgbClr val="FFFFFF"/>
                        </a:solidFill>
                        <a:latin typeface="Arial"/>
                      </a:rPr>
                      <a:t>75%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293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0.88</c:v>
                </c:pt>
                <c:pt idx="1">
                  <c:v>0.75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400" b="1">
                        <a:solidFill>
                          <a:srgbClr val="FFFFFF"/>
                        </a:solidFill>
                        <a:latin typeface="Arial"/>
                      </a:rPr>
                      <a:t>91%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263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400" b="1">
                        <a:solidFill>
                          <a:srgbClr val="FFFFFF"/>
                        </a:solidFill>
                        <a:latin typeface="Arial"/>
                      </a:rPr>
                      <a:t>77%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291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0.91</c:v>
                </c:pt>
                <c:pt idx="1">
                  <c:v>0.77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3 months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0.77</c:v>
                </c:pt>
                <c:pt idx="1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of 3 months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0.13</c:v>
                </c:pt>
                <c:pt idx="1">
                  <c:v>0.12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of 3 months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0.06</c:v>
                </c:pt>
                <c:pt idx="1">
                  <c:v>0.1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Never used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0.04</c:v>
                </c:pt>
                <c:pt idx="1">
                  <c:v>0.14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&quot;$&quot;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&quot;$&quot;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39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&quot;$&quot;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50</c:v>
                </c:pt>
              </c:numCache>
            </c:numRef>
          </c:val>
        </c:ser>
        <c:dLbls>
          <c:numFmt formatCode="&quot;$&quot;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&quot;M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&quot;M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&quot;M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63</c:v>
                </c:pt>
              </c:numCache>
            </c:numRef>
          </c:val>
        </c:ser>
        <c:dLbls>
          <c:numFmt formatCode="0&quot;M&quot;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 (% of spend)</c:v>
                </c:pt>
              </c:strCache>
            </c:strRef>
          </c:tx>
          <c:spPr>
            <a:solidFill>
              <a:srgbClr val="CC0033"/>
            </a:solidFill>
            <a:ln w="31750" cap="flat">
              <a:solidFill>
                <a:srgbClr val="CC0033"/>
              </a:solidFill>
              <a:prstDash val="solid"/>
              <a:round/>
            </a:ln>
            <a:effectLst/>
          </c:spPr>
          <c:invertIfNegative val="0"/>
          <c:dLbls>
            <c:dLbl>
              <c:idx val="4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CC0033"/>
                        </a:solidFill>
                        <a:latin typeface="Arial"/>
                      </a:rPr>
                      <a:t>68%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marker>
            <c:symbol val="none"/>
            <c:size val="6"/>
            <c:spPr>
              <a:solidFill>
                <a:srgbClr val="CC0033"/>
              </a:solidFill>
              <a:ln w="9525" cap="flat">
                <a:solidFill>
                  <a:srgbClr val="CC00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0.32899999999999996</c:v>
                </c:pt>
                <c:pt idx="2">
                  <c:v>0.48200000000000004</c:v>
                </c:pt>
                <c:pt idx="3">
                  <c:v>0.5920000000000001</c:v>
                </c:pt>
                <c:pt idx="4">
                  <c:v>0.68</c:v>
                </c:pt>
                <c:pt idx="5">
                  <c:v>0.743</c:v>
                </c:pt>
                <c:pt idx="6">
                  <c:v>0.792</c:v>
                </c:pt>
                <c:pt idx="7">
                  <c:v>0.8340000000000001</c:v>
                </c:pt>
                <c:pt idx="8">
                  <c:v>0.87</c:v>
                </c:pt>
                <c:pt idx="9">
                  <c:v>0.9009999999999999</c:v>
                </c:pt>
                <c:pt idx="10">
                  <c:v>0.9259999999999999</c:v>
                </c:pt>
                <c:pt idx="11">
                  <c:v>0.945</c:v>
                </c:pt>
                <c:pt idx="12">
                  <c:v>0.96</c:v>
                </c:pt>
                <c:pt idx="13">
                  <c:v>0.972</c:v>
                </c:pt>
                <c:pt idx="14">
                  <c:v>0.98</c:v>
                </c:pt>
                <c:pt idx="15">
                  <c:v>0.987</c:v>
                </c:pt>
                <c:pt idx="16">
                  <c:v>0.993</c:v>
                </c:pt>
                <c:pt idx="17">
                  <c:v>0.996</c:v>
                </c:pt>
                <c:pt idx="18">
                  <c:v>0.9990000000000001</c:v>
                </c:pt>
                <c:pt idx="19">
                  <c:v>1</c:v>
                </c:pt>
                <c:pt idx="2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 (% of tokens)</c:v>
                </c:pt>
              </c:strCache>
            </c:strRef>
          </c:tx>
          <c:spPr>
            <a:solidFill>
              <a:srgbClr val="7F7F7F"/>
            </a:solidFill>
            <a:ln w="31750" cap="flat">
              <a:solidFill>
                <a:srgbClr val="7F7F7F"/>
              </a:solidFill>
              <a:prstDash val="solid"/>
              <a:round/>
            </a:ln>
            <a:effectLst/>
          </c:spPr>
          <c:invertIfNegative val="0"/>
          <c:dLbls>
            <c:dLbl>
              <c:idx val="4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7F7F7F"/>
                        </a:solidFill>
                        <a:latin typeface="Arial"/>
                      </a:rPr>
                      <a:t>76%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errBars>
            <c:errDir val="y"/>
            <c:errBarType val="minus"/>
            <c:errValType val="cust"/>
            <c:noEndCap val="1"/>
            <c:plus>
              <c:numLit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Lit>
            </c:plus>
            <c:minus>
              <c:numLit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0.76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Lit>
            </c:minus>
            <c:spPr>
              <a:ln w="12700">
                <a:solidFill>
                  <a:srgbClr val="7F7F7F"/>
                </a:solidFill>
                <a:prstDash val="dash"/>
              </a:ln>
            </c:spPr>
          </c:errBars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0.41600000000000004</c:v>
                </c:pt>
                <c:pt idx="2">
                  <c:v>0.581</c:v>
                </c:pt>
                <c:pt idx="3">
                  <c:v>0.687</c:v>
                </c:pt>
                <c:pt idx="4">
                  <c:v>0.7559999999999999</c:v>
                </c:pt>
                <c:pt idx="5">
                  <c:v>0.81</c:v>
                </c:pt>
                <c:pt idx="6">
                  <c:v>0.847</c:v>
                </c:pt>
                <c:pt idx="7">
                  <c:v>0.88</c:v>
                </c:pt>
                <c:pt idx="8">
                  <c:v>0.907</c:v>
                </c:pt>
                <c:pt idx="9">
                  <c:v>0.932</c:v>
                </c:pt>
                <c:pt idx="10">
                  <c:v>0.95</c:v>
                </c:pt>
                <c:pt idx="11">
                  <c:v>0.965</c:v>
                </c:pt>
                <c:pt idx="12">
                  <c:v>0.976</c:v>
                </c:pt>
                <c:pt idx="13">
                  <c:v>0.9840000000000001</c:v>
                </c:pt>
                <c:pt idx="14">
                  <c:v>0.99</c:v>
                </c:pt>
                <c:pt idx="15">
                  <c:v>0.9940000000000001</c:v>
                </c:pt>
                <c:pt idx="16">
                  <c:v>0.997</c:v>
                </c:pt>
                <c:pt idx="17">
                  <c:v>0.9990000000000001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ref68</c:v>
                </c:pt>
              </c:strCache>
            </c:strRef>
          </c:tx>
          <c:spPr>
            <a:ln w="12700" cap="flat">
              <a:solidFill>
                <a:srgbClr val="CC0033"/>
              </a:solidFill>
              <a:prstDash val="dash"/>
              <a:round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C0033"/>
              </a:solidFill>
              <a:ln w="9525" cap="flat">
                <a:solidFill>
                  <a:srgbClr val="CC00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0.68</c:v>
                </c:pt>
                <c:pt idx="1">
                  <c:v>0.68</c:v>
                </c:pt>
                <c:pt idx="2">
                  <c:v>0.68</c:v>
                </c:pt>
                <c:pt idx="3">
                  <c:v>0.68</c:v>
                </c:pt>
                <c:pt idx="4">
                  <c:v>0.68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ref76</c:v>
                </c:pt>
              </c:strCache>
            </c:strRef>
          </c:tx>
          <c:spPr>
            <a:ln w="12700" cap="flat">
              <a:solidFill>
                <a:srgbClr val="7F7F7F"/>
              </a:solidFill>
              <a:prstDash val="dash"/>
              <a:round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0.76</c:v>
                </c:pt>
                <c:pt idx="1">
                  <c:v>0.76</c:v>
                </c:pt>
                <c:pt idx="2">
                  <c:v>0.76</c:v>
                </c:pt>
                <c:pt idx="3">
                  <c:v>0.76</c:v>
                </c:pt>
                <c:pt idx="4">
                  <c:v>0.76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12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66666"/>
                    </a:solidFill>
                    <a:latin typeface="Arial"/>
                  </a:rPr>
                  <a:t>% of users, heaviest first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126</c:v>
                </c:pt>
                <c:pt idx="1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112</c:v>
                </c:pt>
                <c:pt idx="1">
                  <c:v>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141</c:v>
                </c:pt>
                <c:pt idx="1">
                  <c:v>29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101</c:v>
                </c:pt>
                <c:pt idx="1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165</c:v>
                </c:pt>
                <c:pt idx="1">
                  <c:v>36</c:v>
                </c:pt>
              </c:numCache>
            </c:numRef>
          </c:val>
        </c:ser>
        <c:dLbls>
          <c:numFmt formatCode="0&quot;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&quot;$&quot;0.00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&quot;$&quot;0.00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0.117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&quot;$&quot;0.00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0.13</c:v>
                </c:pt>
              </c:numCache>
            </c:numRef>
          </c:val>
        </c:ser>
        <c:dLbls>
          <c:numFmt formatCode="&quot;$&quot;0.00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numFmt formatCode="&quot;$&quot;0.0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Higher-cost model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0.365</c:v>
                </c:pt>
                <c:pt idx="1">
                  <c:v>0.285</c:v>
                </c:pt>
                <c:pt idx="2">
                  <c:v>0.321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Sonnet 5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0.19</c:v>
                </c:pt>
                <c:pt idx="1">
                  <c:v>0.334</c:v>
                </c:pt>
                <c:pt idx="2">
                  <c:v>0.311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Sonnet 4.6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0.437</c:v>
                </c:pt>
                <c:pt idx="1">
                  <c:v>0.361</c:v>
                </c:pt>
                <c:pt idx="2">
                  <c:v>0.354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delete val="1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0.008</c:v>
                </c:pt>
                <c:pt idx="1">
                  <c:v>0.02</c:v>
                </c:pt>
                <c:pt idx="2">
                  <c:v>0.014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Claude-assigned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Membership</c:v>
                  </c:pt>
                  <c:pt idx="1">
                    <c:v>Marketing</c:v>
                  </c:pt>
                  <c:pt idx="2">
                    <c:v>Technology</c:v>
                  </c:pt>
                  <c:pt idx="3">
                    <c:v>Operations</c:v>
                  </c:pt>
                  <c:pt idx="4">
                    <c:v>Enterprise Analytics</c:v>
                  </c:pt>
                  <c:pt idx="5">
                    <c:v>Human Resources</c:v>
                  </c:pt>
                  <c:pt idx="6">
                    <c:v>Finance</c:v>
                  </c:pt>
                  <c:pt idx="7">
                    <c:v>Merchandising</c:v>
                  </c:pt>
                  <c:pt idx="8">
                    <c:v>Shared Services</c:v>
                  </c:pt>
                  <c:pt idx="9">
                    <c:v>Legal</c:v>
                  </c:pt>
                  <c:pt idx="10">
                    <c:v>Strategy &amp; Dev.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0.84</c:v>
                </c:pt>
                <c:pt idx="5">
                  <c:v>0</c:v>
                </c:pt>
                <c:pt idx="6">
                  <c:v>0.94</c:v>
                </c:pt>
                <c:pt idx="7">
                  <c:v>0.95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ChatGPT-assigned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Membership</c:v>
                  </c:pt>
                  <c:pt idx="1">
                    <c:v>Marketing</c:v>
                  </c:pt>
                  <c:pt idx="2">
                    <c:v>Technology</c:v>
                  </c:pt>
                  <c:pt idx="3">
                    <c:v>Operations</c:v>
                  </c:pt>
                  <c:pt idx="4">
                    <c:v>Enterprise Analytics</c:v>
                  </c:pt>
                  <c:pt idx="5">
                    <c:v>Human Resources</c:v>
                  </c:pt>
                  <c:pt idx="6">
                    <c:v>Finance</c:v>
                  </c:pt>
                  <c:pt idx="7">
                    <c:v>Merchandising</c:v>
                  </c:pt>
                  <c:pt idx="8">
                    <c:v>Shared Services</c:v>
                  </c:pt>
                  <c:pt idx="9">
                    <c:v>Legal</c:v>
                  </c:pt>
                  <c:pt idx="10">
                    <c:v>Strategy &amp; Dev.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0.73</c:v>
                </c:pt>
                <c:pt idx="1">
                  <c:v>0.78</c:v>
                </c:pt>
                <c:pt idx="2">
                  <c:v>0.83</c:v>
                </c:pt>
                <c:pt idx="3">
                  <c:v>0.84</c:v>
                </c:pt>
                <c:pt idx="4">
                  <c:v>0</c:v>
                </c:pt>
                <c:pt idx="5">
                  <c:v>0.9</c:v>
                </c:pt>
                <c:pt idx="6">
                  <c:v>0</c:v>
                </c:pt>
                <c:pt idx="7">
                  <c:v>0</c:v>
                </c:pt>
                <c:pt idx="8">
                  <c:v>0.95</c:v>
                </c:pt>
                <c:pt idx="9">
                  <c:v>0</c:v>
                </c:pt>
                <c:pt idx="10">
                  <c:v>1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numFmt formatCode="0%" sourceLinked="0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635</c:v>
                </c:pt>
                <c:pt idx="1">
                  <c:v>239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976</c:v>
                </c:pt>
                <c:pt idx="1">
                  <c:v>340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1080</c:v>
                </c:pt>
                <c:pt idx="1">
                  <c:v>382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125</c:v>
                </c:pt>
                <c:pt idx="1">
                  <c:v>63</c:v>
                </c:pt>
              </c:numCache>
            </c:numRef>
          </c:val>
        </c:ser>
        <c:dLbls>
          <c:numFmt formatCode="0&quot;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numFmt formatCode="0&quot;M&quot;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</c:v>
                </c:pt>
                <c:pt idx="1">
                  <c:v>0.58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0.88</c:v>
                </c:pt>
                <c:pt idx="1">
                  <c:v>0.61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0.91</c:v>
                </c:pt>
                <c:pt idx="1">
                  <c:v>0.62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engagement is broad, sustained, and growing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AI pilot engagement results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is broad and rose every month of the pilot.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3677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 of Claude and 77% of ChatGPT license holders were active in September, and every department is above 70%.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002536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12264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93976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users stayed active every month of the pilot.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0487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 of Claude and 64% of ChatGPT users were active in all three months.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2770632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86207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are using AI more each month.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72968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July, spend per active Claude user is up 37%, and ChatGPT tokens per active user have more than tripled.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538728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48456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63016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is spreading beyond the heaviest users.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941064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20% of users still account for about 70% of use, but light users are the fastest-growing group on both tools.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4306824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416552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398264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experimenting far more than Connect users.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70916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September, Champions used Claude 2.8 times and ChatGPT 2 times as much as Connect users.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5074920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18464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1663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spend is growing with use, while each request costs less than at launch.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47725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request is 15% below July, though it rose 11% in September; </a:t>
            </a:r>
            <a:pPr indent="0" marL="0">
              <a:buNone/>
            </a:pPr>
            <a:r>
              <a:rPr lang="en-US" sz="14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[total spend trend to come]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 in 11 departments, excluding Exec, July to September 2026.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kept rising month over month through the pilot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as % of license holders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rose on both tools even as departures reduced the number of license holders.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not yet active hold ChatGPT licenses (87 of 113).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holders, net of departures (July, August, September): Claude 301, 298, 289; ChatGPT 399, 391, 378.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users: team members other than Champions with a Claude and/or ChatGPT license as of July 2026; 11 departments, excluding Exec.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was sustained over time and has increased for most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holders by number of months active, July to September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spend per active user ($)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09828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tokens per active user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0" cy="37490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65760" y="123444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263640" y="1234440"/>
          <a:ext cx="26974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9098280" y="1234440"/>
          <a:ext cx="26974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license holders were active in every month of the pilot.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July, spend per active Claude user rose 37% and ChatGPT tokens per active user more than tripled.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 of ChatGPT license holders never used it; those licenses can be reassigned in Phase 2.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users; 11 departments, excluding Exec. Spend excludes the license fee. Growth compares September with July, on unrounded values.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is concentrated among heavy users, but growth comes from the broader base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% of September usage, by % of users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spend per user ($)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09828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tokens per user (M)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0" cy="37490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65760" y="123444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263640" y="1234440"/>
          <a:ext cx="2697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9098280" y="1234440"/>
          <a:ext cx="2697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7623810" y="44394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7788402" y="43708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455914" y="44394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8620506" y="43708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443466" y="44394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608058" y="43708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fifth of users account for about 70% of usage on both tools.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users' use per person doubled on Claude and grew about tenfold on ChatGPT since July.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users added more total usage than heavy users on both tools.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users; 11 departments, excluding Exec. Claude measured by spend, ChatGPT by tokens. Growth uses unrounded values.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users: top 20% of July-active users by July usage (Claude 49, ChatGPT 55); light users: the rest (195, 220). Groups fixed by July rank.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 per request is lower than at launch, even as usage grows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average cost per request ($)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spend by model (% of total)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7490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65760" y="30358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September: −15% vs. July, +11% vs. August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33649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request per person ($)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39312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234440"/>
                <a:gridCol w="12344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August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25th percentile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75th percentile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Chart 1" descr=""/>
          <p:cNvGraphicFramePr/>
          <p:nvPr/>
        </p:nvGraphicFramePr>
        <p:xfrm>
          <a:off x="6263640" y="1234440"/>
          <a:ext cx="5532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7"/>
          <p:cNvSpPr/>
          <p:nvPr/>
        </p:nvSpPr>
        <p:spPr>
          <a:xfrm>
            <a:off x="6508242" y="44394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672834" y="4370832"/>
            <a:ext cx="1613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Higher-cost model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350758" y="44394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8515350" y="4370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5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493758" y="44394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658350" y="4370832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4.6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0792206" y="44394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10956798" y="43708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request is 15% below July, as more usage moved to lower-cost models.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September rise reflects new users trying the higher-cost model, not a reversal of the trend.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guidance on when to use the higher-cost model will keep costs down in Phase 2.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users; 11 departments, excluding Exec. Claude: 301 license holders; 255 active in July, </a:t>
            </a:r>
            <a:pPr indent="0" marL="0">
              <a:buNone/>
            </a:pPr>
            <a:r>
              <a:rPr lang="en-US" sz="1200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active in August.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on the assigned tool is high across departments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as % of license holders on the assigned tool, by department, September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of 11 departments are at 90% or above, and none is below 70%.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lowest, Membership and Marketing, are about 6 and 2 people short of full adoption.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September. Subset of AI Connect users holding their department's assigned tool; departures excluded. Membership: 22 users; Marketing: 9.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experimenting far more than Connect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requests per active user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tokens per active user (M)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7490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63640" y="1234440"/>
          <a:ext cx="5532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674870" y="44394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839462" y="43708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506974" y="44394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671566" y="43708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94526" y="44394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659118" y="43708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use Claude about 3 times and ChatGPT about 2 times as much as Connect users.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lead is steady on Claude and widening on ChatGPT, from 1.4 times in July to 2.0 times in September.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experimentation builds the examples and know-how Connect users can reuse in Phase 2.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active user. AI Connect users: 11 departments, excluding Exec. </a:t>
            </a:r>
            <a:pPr indent="0" marL="0">
              <a:buNone/>
            </a:pPr>
            <a:r>
              <a:rPr lang="en-US" sz="12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[Claude chart to switch to spend per active user when Champion spend data is available]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access to both tools, Claude adoption leads and the gap is widening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as % of people licensed for both tools (164 people)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both tools available, 91% use Claude and 62% use ChatGPT, so access does not explain the gap.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lead widened from 27 to 29 points over the pilot.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preference should weigh in the tool decision.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 licensed for both Claude and ChatGPT; departures excluded.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2026-10-01T18:29:58Z</dcterms:created>
  <dcterms:modified xsi:type="dcterms:W3CDTF">2026-10-01T18:29:58Z</dcterms:modified>
</cp:coreProperties>
</file>