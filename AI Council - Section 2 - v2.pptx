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Strategy &amp; Dev. (7)</c:v>
                  </c:pt>
                  <c:pt idx="1">
                    <c:v>Legal (7)</c:v>
                  </c:pt>
                  <c:pt idx="2">
                    <c:v>Membership (8)</c:v>
                  </c:pt>
                  <c:pt idx="3">
                    <c:v>Marketing (9)</c:v>
                  </c:pt>
                  <c:pt idx="4">
                    <c:v>Human Resources (16)</c:v>
                  </c:pt>
                  <c:pt idx="5">
                    <c:v>Operations (18)</c:v>
                  </c:pt>
                  <c:pt idx="6">
                    <c:v>Finance (29)</c:v>
                  </c:pt>
                  <c:pt idx="7">
                    <c:v>Shared Services (33)</c:v>
                  </c:pt>
                  <c:pt idx="8">
                    <c:v>Technology (37)</c:v>
                  </c:pt>
                  <c:pt idx="9">
                    <c:v>Enterprise Analytics (45)</c:v>
                  </c:pt>
                  <c:pt idx="10">
                    <c:v>Merchandising (53)</c:v>
                  </c:pt>
                  <c:pt idx="11">
                    <c:v>All departments (262)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0.42857142857142855</c:v>
                </c:pt>
                <c:pt idx="1">
                  <c:v>0.2857142857142857</c:v>
                </c:pt>
                <c:pt idx="2">
                  <c:v>0.375</c:v>
                </c:pt>
                <c:pt idx="3">
                  <c:v>0.4444444444444444</c:v>
                </c:pt>
                <c:pt idx="4">
                  <c:v>0.0625</c:v>
                </c:pt>
                <c:pt idx="5">
                  <c:v>0.2777777777777778</c:v>
                </c:pt>
                <c:pt idx="6">
                  <c:v>0.13793103448275862</c:v>
                </c:pt>
                <c:pt idx="7">
                  <c:v>0.18181818181818182</c:v>
                </c:pt>
                <c:pt idx="8">
                  <c:v>0.10810810810810811</c:v>
                </c:pt>
                <c:pt idx="9">
                  <c:v>0.4444444444444444</c:v>
                </c:pt>
                <c:pt idx="10">
                  <c:v>0.2830188679245283</c:v>
                </c:pt>
                <c:pt idx="11">
                  <c:v>0.25572519083969464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Strategy &amp; Dev. (7)</c:v>
                  </c:pt>
                  <c:pt idx="1">
                    <c:v>Legal (7)</c:v>
                  </c:pt>
                  <c:pt idx="2">
                    <c:v>Membership (8)</c:v>
                  </c:pt>
                  <c:pt idx="3">
                    <c:v>Marketing (9)</c:v>
                  </c:pt>
                  <c:pt idx="4">
                    <c:v>Human Resources (16)</c:v>
                  </c:pt>
                  <c:pt idx="5">
                    <c:v>Operations (18)</c:v>
                  </c:pt>
                  <c:pt idx="6">
                    <c:v>Finance (29)</c:v>
                  </c:pt>
                  <c:pt idx="7">
                    <c:v>Shared Services (33)</c:v>
                  </c:pt>
                  <c:pt idx="8">
                    <c:v>Technology (37)</c:v>
                  </c:pt>
                  <c:pt idx="9">
                    <c:v>Enterprise Analytics (45)</c:v>
                  </c:pt>
                  <c:pt idx="10">
                    <c:v>Merchandising (53)</c:v>
                  </c:pt>
                  <c:pt idx="11">
                    <c:v>All departments (262)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0.42857142857142855</c:v>
                </c:pt>
                <c:pt idx="2">
                  <c:v>0.25</c:v>
                </c:pt>
                <c:pt idx="3">
                  <c:v>0.1111111111111111</c:v>
                </c:pt>
                <c:pt idx="4">
                  <c:v>0.4375</c:v>
                </c:pt>
                <c:pt idx="5">
                  <c:v>0.2777777777777778</c:v>
                </c:pt>
                <c:pt idx="6">
                  <c:v>0.1724137931034483</c:v>
                </c:pt>
                <c:pt idx="7">
                  <c:v>0.30303030303030304</c:v>
                </c:pt>
                <c:pt idx="8">
                  <c:v>0.1891891891891892</c:v>
                </c:pt>
                <c:pt idx="9">
                  <c:v>0.13333333333333333</c:v>
                </c:pt>
                <c:pt idx="10">
                  <c:v>0.18867924528301888</c:v>
                </c:pt>
                <c:pt idx="11">
                  <c:v>0.21374045801526717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Strategy &amp; Dev. (7)</c:v>
                  </c:pt>
                  <c:pt idx="1">
                    <c:v>Legal (7)</c:v>
                  </c:pt>
                  <c:pt idx="2">
                    <c:v>Membership (8)</c:v>
                  </c:pt>
                  <c:pt idx="3">
                    <c:v>Marketing (9)</c:v>
                  </c:pt>
                  <c:pt idx="4">
                    <c:v>Human Resources (16)</c:v>
                  </c:pt>
                  <c:pt idx="5">
                    <c:v>Operations (18)</c:v>
                  </c:pt>
                  <c:pt idx="6">
                    <c:v>Finance (29)</c:v>
                  </c:pt>
                  <c:pt idx="7">
                    <c:v>Shared Services (33)</c:v>
                  </c:pt>
                  <c:pt idx="8">
                    <c:v>Technology (37)</c:v>
                  </c:pt>
                  <c:pt idx="9">
                    <c:v>Enterprise Analytics (45)</c:v>
                  </c:pt>
                  <c:pt idx="10">
                    <c:v>Merchandising (53)</c:v>
                  </c:pt>
                  <c:pt idx="11">
                    <c:v>All departments (262)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0.42857142857142855</c:v>
                </c:pt>
                <c:pt idx="1">
                  <c:v>0</c:v>
                </c:pt>
                <c:pt idx="2">
                  <c:v>0.25</c:v>
                </c:pt>
                <c:pt idx="3">
                  <c:v>0.1111111111111111</c:v>
                </c:pt>
                <c:pt idx="4">
                  <c:v>0.125</c:v>
                </c:pt>
                <c:pt idx="5">
                  <c:v>0.2222222222222222</c:v>
                </c:pt>
                <c:pt idx="6">
                  <c:v>0.10344827586206896</c:v>
                </c:pt>
                <c:pt idx="7">
                  <c:v>0.18181818181818182</c:v>
                </c:pt>
                <c:pt idx="8">
                  <c:v>0.2702702702702703</c:v>
                </c:pt>
                <c:pt idx="9">
                  <c:v>0.06666666666666667</c:v>
                </c:pt>
                <c:pt idx="10">
                  <c:v>0.1320754716981132</c:v>
                </c:pt>
                <c:pt idx="11">
                  <c:v>0.15648854961832062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 work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Strategy &amp; Dev. (7)</c:v>
                  </c:pt>
                  <c:pt idx="1">
                    <c:v>Legal (7)</c:v>
                  </c:pt>
                  <c:pt idx="2">
                    <c:v>Membership (8)</c:v>
                  </c:pt>
                  <c:pt idx="3">
                    <c:v>Marketing (9)</c:v>
                  </c:pt>
                  <c:pt idx="4">
                    <c:v>Human Resources (16)</c:v>
                  </c:pt>
                  <c:pt idx="5">
                    <c:v>Operations (18)</c:v>
                  </c:pt>
                  <c:pt idx="6">
                    <c:v>Finance (29)</c:v>
                  </c:pt>
                  <c:pt idx="7">
                    <c:v>Shared Services (33)</c:v>
                  </c:pt>
                  <c:pt idx="8">
                    <c:v>Technology (37)</c:v>
                  </c:pt>
                  <c:pt idx="9">
                    <c:v>Enterprise Analytics (45)</c:v>
                  </c:pt>
                  <c:pt idx="10">
                    <c:v>Merchandising (53)</c:v>
                  </c:pt>
                  <c:pt idx="11">
                    <c:v>All departments (262)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0.1111111111111111</c:v>
                </c:pt>
                <c:pt idx="4">
                  <c:v>0.0625</c:v>
                </c:pt>
                <c:pt idx="5">
                  <c:v>0.05555555555555555</c:v>
                </c:pt>
                <c:pt idx="6">
                  <c:v>0.13793103448275862</c:v>
                </c:pt>
                <c:pt idx="7">
                  <c:v>0.15151515151515152</c:v>
                </c:pt>
                <c:pt idx="8">
                  <c:v>0.2702702702702703</c:v>
                </c:pt>
                <c:pt idx="9">
                  <c:v>0.2</c:v>
                </c:pt>
                <c:pt idx="10">
                  <c:v>0.05660377358490566</c:v>
                </c:pt>
                <c:pt idx="11">
                  <c:v>0.1297709923664122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Strategy &amp; Dev. (7)</c:v>
                  </c:pt>
                  <c:pt idx="1">
                    <c:v>Legal (7)</c:v>
                  </c:pt>
                  <c:pt idx="2">
                    <c:v>Membership (8)</c:v>
                  </c:pt>
                  <c:pt idx="3">
                    <c:v>Marketing (9)</c:v>
                  </c:pt>
                  <c:pt idx="4">
                    <c:v>Human Resources (16)</c:v>
                  </c:pt>
                  <c:pt idx="5">
                    <c:v>Operations (18)</c:v>
                  </c:pt>
                  <c:pt idx="6">
                    <c:v>Finance (29)</c:v>
                  </c:pt>
                  <c:pt idx="7">
                    <c:v>Shared Services (33)</c:v>
                  </c:pt>
                  <c:pt idx="8">
                    <c:v>Technology (37)</c:v>
                  </c:pt>
                  <c:pt idx="9">
                    <c:v>Enterprise Analytics (45)</c:v>
                  </c:pt>
                  <c:pt idx="10">
                    <c:v>Merchandising (53)</c:v>
                  </c:pt>
                  <c:pt idx="11">
                    <c:v>All departments (262)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0.14285714285714285</c:v>
                </c:pt>
                <c:pt idx="1">
                  <c:v>0.2857142857142857</c:v>
                </c:pt>
                <c:pt idx="2">
                  <c:v>0.125</c:v>
                </c:pt>
                <c:pt idx="3">
                  <c:v>0.2222222222222222</c:v>
                </c:pt>
                <c:pt idx="4">
                  <c:v>0.3125</c:v>
                </c:pt>
                <c:pt idx="5">
                  <c:v>0.16666666666666666</c:v>
                </c:pt>
                <c:pt idx="6">
                  <c:v>0.4482758620689655</c:v>
                </c:pt>
                <c:pt idx="7">
                  <c:v>0.18181818181818182</c:v>
                </c:pt>
                <c:pt idx="8">
                  <c:v>0.16216216216216217</c:v>
                </c:pt>
                <c:pt idx="9">
                  <c:v>0.15555555555555556</c:v>
                </c:pt>
                <c:pt idx="10">
                  <c:v>0.33962264150943394</c:v>
                </c:pt>
                <c:pt idx="11">
                  <c:v>0.24427480916030533</c:v>
                </c:pt>
              </c:numCache>
            </c:numRef>
          </c:val>
        </c:ser>
        <c:dLbls>
          <c:numFmt formatCode="[&lt;0.08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numFmt formatCode="0%" sourceLinked="0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"/>
          <c:y val="0.12"/>
          <c:w val="0.85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0.13740458015267176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Weekly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0.29770992366412213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Monthly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0.17557251908396945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Quarterly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0.08396946564885496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Ad hoc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0.3053435114503817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"/>
          <c:y val="0.12"/>
          <c:w val="0.85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Saved prompt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Skill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 Project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One-time prompt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48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Not classified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69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7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1627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1087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993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275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241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126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44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 20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0.57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All 117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show AI moving into regular work and saving time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AI use cases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use AI for different kinds of 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 use cases came from 11 departments; Enterprise Analytics leans on analysis, Legal and HR on drafting.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are recurring, not one-off.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of 262 (69%) recur, and 114 (44%) happen daily or weekly.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produced something others can reuse.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 of 262 (55%) created a saved prompt, skill or Claude Project.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 are spread widely, led by four task types.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117 use cases with an hours estimate save 6,453 hours a year; the top 20 deliver 57%.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generated about half of the hours saved.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6% of licensed users but generated 48% of hours saved.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extend beyond time saved.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submissions describe better decisions, fewer errors or avoided costs; </a:t>
            </a:r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 examples being confirmed with submission owners]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 AI use case submissions from AI Connect users and Champions, Phase 1.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and use cases by Champions and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to 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[Placeholder: engagement / correlation analysis by Champions and Connect users]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use AI for different kinds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task type, % of each department’s use cases (number of use cases)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337560" y="4960620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502152" y="489204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2836" y="4960620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67428" y="4892040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12664" y="4960620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77256" y="4892040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3388" y="4960620"/>
            <a:ext cx="118872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97980" y="489204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42732" y="4960620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07324" y="4892040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5230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 leans on analysis (44%), while Legal and HR lean on drafting (43 to 44%).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splits between summarizing and technical work; Finance spreads across many task types.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Other: research, review, data extraction, coaching and brainstorming. Labels under 8% not shown.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are recurring, not one-off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how often they happen (% of 262)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and weekly use cases by task type (114)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7490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040587" y="1337310"/>
            <a:ext cx="1779422" cy="3223260"/>
          </a:xfrm>
          <a:prstGeom prst="rect">
            <a:avLst/>
          </a:prstGeom>
          <a:ln w="12700">
            <a:solidFill>
              <a:srgbClr val="7F7F7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1013155" y="1373886"/>
            <a:ext cx="1834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or weekly: 44%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1234440"/>
          <a:ext cx="55321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of use cases recur, and 44% happen daily or weekly: AI is part of routine work, not occasional experiments.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task types account for 82% of daily and weekly use: summarizing, analyzing, drafting and technical work.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recurring tasks are where Phase 2 training and shared prompts will reach the most people.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as reported in submissions: 36 daily, 78 weekly, 46 monthly, 22 quarterly, 80 ad hoc.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produced something others can reuse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type of reusable asset (262)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assets by task type (145)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7490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040587" y="1337310"/>
            <a:ext cx="2696566" cy="3223260"/>
          </a:xfrm>
          <a:prstGeom prst="rect">
            <a:avLst/>
          </a:prstGeom>
          <a:ln w="12700">
            <a:solidFill>
              <a:srgbClr val="7F7F7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1013155" y="1373886"/>
            <a:ext cx="2751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Reusable: 145 (55%)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1234440"/>
          <a:ext cx="55321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half of use cases created a saved prompt, skill or Claude Project, most often a saved prompt.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task types that recur most also produce 77% of reusable assets.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assets are a ready-made library to share across departments in Phase 2.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submissions did not classify reuse and are counted as not reusable.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 are spread widely, led by four task types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hours saved, by task type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 saved, by number of use cases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7490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63640" y="1234440"/>
          <a:ext cx="55321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117 use cases with an hours estimate save 6,453 hours a year; four task types account for 84%.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20 use cases deliver 57% of hours, yet 43% comes from the other 97: value does not rest on a few cases.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6% of licensed users but generated 48% of hours saved.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annualized estimates from submissions. 145 of 262 submissions had no usable hours estimate.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extend beyond time saved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submissions describe business benefits beyond time saved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 and visibility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employees spot issues and weigh choices earlier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Transfer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merchants earlier visibility into sales and margin effects of Keep/Delist decisions.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tenure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 new quantitative view of article lifecycles across more than 40,000 articles.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6230" y="1280160"/>
            <a:ext cx="0" cy="338328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48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errors and lower risk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482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482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strengthens checks employees used to do by hand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7482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scanning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a high-impact vulnerability in the gift-card refund process.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7482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DSO calculation automation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manual calculation errors and standardized the method across B2B Terms customers.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35290" y="1280160"/>
            <a:ext cx="0" cy="338328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cost and new capability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8388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 cases replace outside services or add skills teams lacked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Learn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analysis in-house that employees compared with software costing more than $1 million.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Perishables POG automation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work included in about $1 million of outsourced spending.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4434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confirm with submission owners]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understates the value: several use cases changed decisions, reduced risk or replaced outside spend.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should capture these benefits alongside hours, so the full value is visible.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selected from 35 submissions describing benefits beyond time saved.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is needed to unlock broader value from the tools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to 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[Placeholder: what else is needed to unlock broader value]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2026-10-01T18:59:09Z</dcterms:created>
  <dcterms:modified xsi:type="dcterms:W3CDTF">2026-10-01T18:59:09Z</dcterms:modified>
</cp:coreProperties>
</file>