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45"/>
          <c:y val="0.03"/>
          <c:w val="0.95"/>
          <c:h val="0.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 &amp; analysis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0.3020833333333333</c:v>
                </c:pt>
                <c:pt idx="1">
                  <c:v>0.17857142857142858</c:v>
                </c:pt>
                <c:pt idx="2">
                  <c:v>0.5</c:v>
                </c:pt>
                <c:pt idx="3">
                  <c:v>0.3333333333333333</c:v>
                </c:pt>
                <c:pt idx="4">
                  <c:v>0.6666666666666666</c:v>
                </c:pt>
                <c:pt idx="5">
                  <c:v>0.3333333333333333</c:v>
                </c:pt>
                <c:pt idx="6">
                  <c:v>0.16666666666666666</c:v>
                </c:pt>
                <c:pt idx="7">
                  <c:v>0.16666666666666666</c:v>
                </c:pt>
                <c:pt idx="8">
                  <c:v>0</c:v>
                </c:pt>
                <c:pt idx="9">
                  <c:v>0.25</c:v>
                </c:pt>
                <c:pt idx="10">
                  <c:v>0.75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Summarizing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0.13541666666666666</c:v>
                </c:pt>
                <c:pt idx="1">
                  <c:v>0.21428571428571427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0.16666666666666666</c:v>
                </c:pt>
                <c:pt idx="6">
                  <c:v>0.3333333333333333</c:v>
                </c:pt>
                <c:pt idx="7">
                  <c:v>0</c:v>
                </c:pt>
                <c:pt idx="8">
                  <c:v>0.6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Content creation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0.11458333333333333</c:v>
                </c:pt>
                <c:pt idx="1">
                  <c:v>0.03571428571428571</c:v>
                </c:pt>
                <c:pt idx="2">
                  <c:v>0.125</c:v>
                </c:pt>
                <c:pt idx="3">
                  <c:v>0.08333333333333333</c:v>
                </c:pt>
                <c:pt idx="4">
                  <c:v>0.16666666666666666</c:v>
                </c:pt>
                <c:pt idx="5">
                  <c:v>0.3333333333333333</c:v>
                </c:pt>
                <c:pt idx="6">
                  <c:v>0.16666666666666666</c:v>
                </c:pt>
                <c:pt idx="7">
                  <c:v>0.3333333333333333</c:v>
                </c:pt>
                <c:pt idx="8">
                  <c:v>0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Structuring information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0.10416666666666667</c:v>
                </c:pt>
                <c:pt idx="1">
                  <c:v>0.07142857142857142</c:v>
                </c:pt>
                <c:pt idx="2">
                  <c:v>0</c:v>
                </c:pt>
                <c:pt idx="3">
                  <c:v>0.25</c:v>
                </c:pt>
                <c:pt idx="4">
                  <c:v>0</c:v>
                </c:pt>
                <c:pt idx="5">
                  <c:v>0.16666666666666666</c:v>
                </c:pt>
                <c:pt idx="6">
                  <c:v>0.16666666666666666</c:v>
                </c:pt>
                <c:pt idx="7">
                  <c:v>0.5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Visual concepting</c:v>
                </c:pt>
              </c:strCache>
            </c:strRef>
          </c:tx>
          <c:spPr>
            <a:solidFill>
              <a:srgbClr val="1B75BC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0.09375</c:v>
                </c:pt>
                <c:pt idx="1">
                  <c:v>0.14285714285714285</c:v>
                </c:pt>
                <c:pt idx="2">
                  <c:v>0.0625</c:v>
                </c:pt>
                <c:pt idx="3">
                  <c:v>0.08333333333333333</c:v>
                </c:pt>
                <c:pt idx="4">
                  <c:v>0</c:v>
                </c:pt>
                <c:pt idx="5">
                  <c:v>0</c:v>
                </c:pt>
                <c:pt idx="6">
                  <c:v>0.16666666666666666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0.6666666666666666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Research and synthesis</c:v>
                </c:pt>
              </c:strCache>
            </c:strRef>
          </c:tx>
          <c:spPr>
            <a:solidFill>
              <a:srgbClr val="CE9B41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0.08333333333333333</c:v>
                </c:pt>
                <c:pt idx="1">
                  <c:v>0.14285714285714285</c:v>
                </c:pt>
                <c:pt idx="2">
                  <c:v>0.0625</c:v>
                </c:pt>
                <c:pt idx="3">
                  <c:v>0.08333333333333333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</c:v>
                </c:pt>
                <c:pt idx="10">
                  <c:v>0.25</c:v>
                </c:pt>
                <c:pt idx="11">
                  <c:v>0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Code and formulas</c:v>
                </c:pt>
              </c:strCache>
            </c:strRef>
          </c:tx>
          <c:spPr>
            <a:solidFill>
              <a:srgbClr val="8FBCE6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0.07291666666666667</c:v>
                </c:pt>
                <c:pt idx="1">
                  <c:v>0.10714285714285714</c:v>
                </c:pt>
                <c:pt idx="2">
                  <c:v>0.125</c:v>
                </c:pt>
                <c:pt idx="3">
                  <c:v>0</c:v>
                </c:pt>
                <c:pt idx="4">
                  <c:v>0.16666666666666666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0.3333333333333333</c:v>
                </c:pt>
              </c:numCache>
            </c:numRef>
          </c:val>
        </c:ser>
        <c:ser>
          <c:idx val="7"/>
          <c:order val="7"/>
          <c:tx>
            <c:strRef>
              <c:f>Sheet1!$I$1</c:f>
              <c:strCache>
                <c:ptCount val="1"/>
                <c:pt idx="0">
                  <c:v>Brainstorming</c:v>
                </c:pt>
              </c:strCache>
            </c:strRef>
          </c:tx>
          <c:spPr>
            <a:solidFill>
              <a:srgbClr val="E8D3A9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Sheet1!$I$2:$I$13</c:f>
              <c:numCache>
                <c:formatCode>General</c:formatCode>
                <c:ptCount val="12"/>
                <c:pt idx="0">
                  <c:v>0.052083333333333336</c:v>
                </c:pt>
                <c:pt idx="1">
                  <c:v>0.03571428571428571</c:v>
                </c:pt>
                <c:pt idx="2">
                  <c:v>0.125</c:v>
                </c:pt>
                <c:pt idx="3">
                  <c:v>0.16666666666666666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8"/>
          <c:order val="8"/>
          <c:tx>
            <c:strRef>
              <c:f>Sheet1!$J$1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%;;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 (96)</c:v>
                  </c:pt>
                  <c:pt idx="1">
                    <c:v>Technology (28)</c:v>
                  </c:pt>
                  <c:pt idx="2">
                    <c:v>Analytics (16)</c:v>
                  </c:pt>
                  <c:pt idx="3">
                    <c:v>Merch. (12)</c:v>
                  </c:pt>
                  <c:pt idx="4">
                    <c:v>Finance (6)</c:v>
                  </c:pt>
                  <c:pt idx="5">
                    <c:v>Membership (6)</c:v>
                  </c:pt>
                  <c:pt idx="6">
                    <c:v>Operations (6)</c:v>
                  </c:pt>
                  <c:pt idx="7">
                    <c:v>Shared Services (6)</c:v>
                  </c:pt>
                  <c:pt idx="8">
                    <c:v>Strategy (5)</c:v>
                  </c:pt>
                  <c:pt idx="9">
                    <c:v>Legal (4)</c:v>
                  </c:pt>
                  <c:pt idx="10">
                    <c:v>Marketing (4)</c:v>
                  </c:pt>
                  <c:pt idx="11">
                    <c:v>HR (3)</c:v>
                  </c:pt>
                </c:lvl>
              </c:multiLvlStrCache>
            </c:multiLvlStrRef>
          </c:cat>
          <c:val>
            <c:numRef>
              <c:f>Sheet1!$J$2:$J$13</c:f>
              <c:numCache>
                <c:formatCode>General</c:formatCode>
                <c:ptCount val="12"/>
                <c:pt idx="0">
                  <c:v>0.041666666666666664</c:v>
                </c:pt>
                <c:pt idx="1">
                  <c:v>0.07142857142857142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0.2</c:v>
                </c:pt>
                <c:pt idx="9">
                  <c:v>0.25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%;;;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0" vert="horz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3.81</c:v>
                </c:pt>
                <c:pt idx="1">
                  <c:v>4.04</c:v>
                </c:pt>
                <c:pt idx="2">
                  <c:v>3.92</c:v>
                </c:pt>
                <c:pt idx="3">
                  <c:v>3.73</c:v>
                </c:pt>
                <c:pt idx="4">
                  <c:v>3.88</c:v>
                </c:pt>
                <c:pt idx="5">
                  <c:v>3.85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Output quality</c:v>
                  </c:pt>
                  <c:pt idx="1">
                    <c:v>Instruction-following</c:v>
                  </c:pt>
                  <c:pt idx="2">
                    <c:v>Clarity and tone</c:v>
                  </c:pt>
                  <c:pt idx="3">
                    <c:v>Prompt effort</c:v>
                  </c:pt>
                  <c:pt idx="4">
                    <c:v>Time saved</c:v>
                  </c:pt>
                  <c:pt idx="5">
                    <c:v>Trust and accuracy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3.99</c:v>
                </c:pt>
                <c:pt idx="1">
                  <c:v>4.2</c:v>
                </c:pt>
                <c:pt idx="2">
                  <c:v>4.18</c:v>
                </c:pt>
                <c:pt idx="3">
                  <c:v>3.93</c:v>
                </c:pt>
                <c:pt idx="4">
                  <c:v>4.01</c:v>
                </c:pt>
                <c:pt idx="5">
                  <c:v>4.11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4"/>
          <c:min val="3"/>
        </c:scaling>
        <c:delete val="0"/>
        <c:axPos val="l"/>
        <c:numFmt formatCode="0.0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00000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0.71</c:v>
                </c:pt>
                <c:pt idx="2">
                  <c:v>0.6</c:v>
                </c:pt>
                <c:pt idx="3">
                  <c:v>0.62</c:v>
                </c:pt>
                <c:pt idx="4">
                  <c:v>0.54</c:v>
                </c:pt>
                <c:pt idx="5">
                  <c:v>0.5</c:v>
                </c:pt>
                <c:pt idx="6">
                  <c:v>0.44</c:v>
                </c:pt>
                <c:pt idx="7">
                  <c:v>0.44</c:v>
                </c:pt>
                <c:pt idx="8">
                  <c:v>0.36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0.2</c:v>
                </c:pt>
                <c:pt idx="3">
                  <c:v>0.08</c:v>
                </c:pt>
                <c:pt idx="4">
                  <c:v>0.21</c:v>
                </c:pt>
                <c:pt idx="5">
                  <c:v>0.13</c:v>
                </c:pt>
                <c:pt idx="6">
                  <c:v>0.22</c:v>
                </c:pt>
                <c:pt idx="7">
                  <c:v>0.12</c:v>
                </c:pt>
                <c:pt idx="8">
                  <c:v>0.09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Other
(4)</c:v>
                  </c:pt>
                  <c:pt idx="1">
                    <c:v>Code and
formulas
(7)</c:v>
                  </c:pt>
                  <c:pt idx="2">
                    <c:v>Brainstorming
(5)</c:v>
                  </c:pt>
                  <c:pt idx="3">
                    <c:v>Summarizing
(13)</c:v>
                  </c:pt>
                  <c:pt idx="4">
                    <c:v>Data &amp;
analysis
(28)</c:v>
                  </c:pt>
                  <c:pt idx="5">
                    <c:v>Research
and
synthesis
(8)</c:v>
                  </c:pt>
                  <c:pt idx="6">
                    <c:v>Structuring
information
(9)</c:v>
                  </c:pt>
                  <c:pt idx="7">
                    <c:v>Visual
concepting
&amp; mockups
(9)</c:v>
                  </c:pt>
                  <c:pt idx="8">
                    <c:v>Content
creation
(11)</c:v>
                  </c:pt>
                </c:lvl>
              </c:multiLvlStrCache>
            </c:multiLvl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0.29</c:v>
                </c:pt>
                <c:pt idx="2">
                  <c:v>0.2</c:v>
                </c:pt>
                <c:pt idx="3">
                  <c:v>0.31</c:v>
                </c:pt>
                <c:pt idx="4">
                  <c:v>0.25</c:v>
                </c:pt>
                <c:pt idx="5">
                  <c:v>0.37</c:v>
                </c:pt>
                <c:pt idx="6">
                  <c:v>0.34</c:v>
                </c:pt>
                <c:pt idx="7">
                  <c:v>0.44</c:v>
                </c:pt>
                <c:pt idx="8">
                  <c:v>0.55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0.54</c:v>
                </c:pt>
                <c:pt idx="1">
                  <c:v>1</c:v>
                </c:pt>
                <c:pt idx="2">
                  <c:v>1</c:v>
                </c:pt>
                <c:pt idx="3">
                  <c:v>0.75</c:v>
                </c:pt>
                <c:pt idx="4">
                  <c:v>0.67</c:v>
                </c:pt>
                <c:pt idx="5">
                  <c:v>0.6</c:v>
                </c:pt>
                <c:pt idx="6">
                  <c:v>0.54</c:v>
                </c:pt>
                <c:pt idx="7">
                  <c:v>0.5</c:v>
                </c:pt>
                <c:pt idx="8">
                  <c:v>0.5</c:v>
                </c:pt>
                <c:pt idx="9">
                  <c:v>0.33</c:v>
                </c:pt>
                <c:pt idx="10">
                  <c:v>0.27</c:v>
                </c:pt>
                <c:pt idx="11">
                  <c:v>0.25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Tied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0.14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0.2</c:v>
                </c:pt>
                <c:pt idx="6">
                  <c:v>0.07</c:v>
                </c:pt>
                <c:pt idx="7">
                  <c:v>0.19</c:v>
                </c:pt>
                <c:pt idx="8">
                  <c:v>0.17</c:v>
                </c:pt>
                <c:pt idx="9">
                  <c:v>0.17</c:v>
                </c:pt>
                <c:pt idx="10">
                  <c:v>0.27</c:v>
                </c:pt>
                <c:pt idx="11">
                  <c:v>0.5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[&lt;0.07]&quot;&quot;;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(94)</c:v>
                  </c:pt>
                  <c:pt idx="1">
                    <c:v>Finance
(6)</c:v>
                  </c:pt>
                  <c:pt idx="2">
                    <c:v>Strategy
(5)</c:v>
                  </c:pt>
                  <c:pt idx="3">
                    <c:v>Legal
(4)</c:v>
                  </c:pt>
                  <c:pt idx="4">
                    <c:v>HR
(3)</c:v>
                  </c:pt>
                  <c:pt idx="5">
                    <c:v>Membership
(5)</c:v>
                  </c:pt>
                  <c:pt idx="6">
                    <c:v>Technology
(28)</c:v>
                  </c:pt>
                  <c:pt idx="7">
                    <c:v>Analytics
(16)</c:v>
                  </c:pt>
                  <c:pt idx="8">
                    <c:v>Operations
(6)</c:v>
                  </c:pt>
                  <c:pt idx="9">
                    <c:v>Shared
Services
(6)</c:v>
                  </c:pt>
                  <c:pt idx="10">
                    <c:v>Merchandising
(11)</c:v>
                  </c:pt>
                  <c:pt idx="11">
                    <c:v>Marketing
(4)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0.32</c:v>
                </c:pt>
                <c:pt idx="1">
                  <c:v>0</c:v>
                </c:pt>
                <c:pt idx="2">
                  <c:v>0</c:v>
                </c:pt>
                <c:pt idx="3">
                  <c:v>0.25</c:v>
                </c:pt>
                <c:pt idx="4">
                  <c:v>0.33</c:v>
                </c:pt>
                <c:pt idx="5">
                  <c:v>0.2</c:v>
                </c:pt>
                <c:pt idx="6">
                  <c:v>0.39</c:v>
                </c:pt>
                <c:pt idx="7">
                  <c:v>0.31</c:v>
                </c:pt>
                <c:pt idx="8">
                  <c:v>0.33</c:v>
                </c:pt>
                <c:pt idx="9">
                  <c:v>0.5</c:v>
                </c:pt>
                <c:pt idx="10">
                  <c:v>0.46</c:v>
                </c:pt>
                <c:pt idx="11">
                  <c:v>0.25</c:v>
                </c:pt>
              </c:numCache>
            </c:numRef>
          </c:val>
        </c:ser>
        <c:dLbls>
          <c:numFmt formatCode="[&lt;0.07]&quot;&quot;;0%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Claude</c:v>
                </c:pt>
              </c:strCache>
            </c:strRef>
          </c:tx>
          <c:spPr>
            <a:solidFill>
              <a:srgbClr val="CC0033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</c:v>
                </c:pt>
                <c:pt idx="1">
                  <c:v>5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ChatGPT</c:v>
                </c:pt>
              </c:strCache>
            </c:strRef>
          </c:tx>
          <c:spPr>
            <a:solidFill>
              <a:srgbClr val="7F7F7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Both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2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Depends on the task</c:v>
                </c:pt>
              </c:strCache>
            </c:strRef>
          </c:tx>
          <c:spPr>
            <a:solidFill>
              <a:srgbClr val="1B75BC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5</c:v>
                </c:pt>
                <c:pt idx="1">
                  <c:v>0</c:v>
                </c:pt>
                <c:pt idx="2">
                  <c:v>0</c:v>
                </c:pt>
                <c:pt idx="3">
                  <c:v>2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  <c:pt idx="11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 preference</c:v>
                </c:pt>
              </c:strCache>
            </c:strRef>
          </c:tx>
          <c:spPr>
            <a:solidFill>
              <a:srgbClr val="DBDBDB"/>
            </a:solidFill>
            <a:effectLst/>
          </c:spPr>
          <c:invertIfNegative val="0"/>
          <c:dLbls>
            <c:numFmt formatCode="0;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All
departments
(34)</c:v>
                  </c:pt>
                  <c:pt idx="1">
                    <c:v>Technology
(9)</c:v>
                  </c:pt>
                  <c:pt idx="2">
                    <c:v>Analytics
(4)</c:v>
                  </c:pt>
                  <c:pt idx="3">
                    <c:v>Merchandising
(4)</c:v>
                  </c:pt>
                  <c:pt idx="4">
                    <c:v>Marketing
(3)</c:v>
                  </c:pt>
                  <c:pt idx="5">
                    <c:v>Finance
(2)</c:v>
                  </c:pt>
                  <c:pt idx="6">
                    <c:v>Strategy
(2)</c:v>
                  </c:pt>
                  <c:pt idx="7">
                    <c:v>Legal
(2)</c:v>
                  </c:pt>
                  <c:pt idx="8">
                    <c:v>Membership
(2)</c:v>
                  </c:pt>
                  <c:pt idx="9">
                    <c:v>HR
(2)</c:v>
                  </c:pt>
                  <c:pt idx="10">
                    <c:v>Operations
(2)</c:v>
                  </c:pt>
                  <c:pt idx="11">
                    <c:v>Shared
Services
(2)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7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numFmt formatCode="0%" sourceLinked="0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comparison favors Claude on every measure, by a modest margin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tool selection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4416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65760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2588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both tools on 96 real tasks from their own work.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3677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departments; each task scored on six dimensions, then a preferred tool chosen per task and overall.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60120" y="2002536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112264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" y="2112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93976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on all six dimensions.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404872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Gaps of 0.13 to 0.26 points on a 5-point scale; largest in clarity and tone and in trust and accuracy.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60120" y="2770632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80360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657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2862072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the preferred tool on most tasks and in most kinds of work.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172968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on 54% of tasks and in 7 of 9 kinds of work; ChatGPT led only in content creation.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538728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648456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657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630168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chose Claude nearly four to one.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3941064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27 Champions with a clear answer chose Claude, 4 chose ChatGPT; 8 said both or that it depends.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120" y="4306824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416552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65760" y="4416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0120" y="4398264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results and Champions’ preferences point the same way in 9 of 11 departments.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60120" y="4709160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HR differ: their tasks favor Claude, their Champions prefer ChatGPT.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0120" y="5074920"/>
            <a:ext cx="10835640" cy="0"/>
          </a:xfrm>
          <a:prstGeom prst="line">
            <a:avLst/>
          </a:prstGeom>
          <a:noFill/>
          <a:ln w="9525">
            <a:solidFill>
              <a:srgbClr val="DBDBD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5184648"/>
            <a:ext cx="384048" cy="384048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960120" y="5166360"/>
            <a:ext cx="10835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to follow.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" y="5477256"/>
            <a:ext cx="10835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[pending: cost per seat, decision owner, prior intent]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comparison challenge, Phase 1: 34 Champions, 96 tasks. Task shares exclude 2 tasks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compared both tools on their own real tasks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tool comparison was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870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870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9738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36576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TASKS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Champion chose three real tasks from their own 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6042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6042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2910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269748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BOTH TOOLS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prompt and inputs went into Claude and ChatGPT.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69214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9214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6082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0292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FIRST RESPONSE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quality, instruction-following, and clarity and tone.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2386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2386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892540" y="1988820"/>
            <a:ext cx="1371600" cy="0"/>
          </a:xfrm>
          <a:prstGeom prst="line">
            <a:avLst/>
          </a:prstGeom>
          <a:noFill/>
          <a:ln w="19050">
            <a:solidFill>
              <a:srgbClr val="CC003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36092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AND VERIFY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6092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the task, then scored effort, time saved and trust in results.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355580" y="1600200"/>
            <a:ext cx="777240" cy="777240"/>
          </a:xfrm>
          <a:prstGeom prst="ellipse">
            <a:avLst/>
          </a:prstGeom>
          <a:solidFill>
            <a:srgbClr val="CC00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355580" y="16002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969264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WINNER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92640" y="2971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 the preferred tool for each task and explained why.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 tested their own work, so the results reflect BJ’s tasks rather than vendor benchmarks.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task was scored on the same six dimensions, then a preferred tool was chosen per task and overall.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tasks across 11 departments; 34 Champions in scope, 27 gave an overall preference.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analysis was tested most, but each department tested a different mix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compared by theme,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1705356" y="477774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869948" y="4709160"/>
            <a:ext cx="14584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analysis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92424" y="4777740"/>
            <a:ext cx="118872" cy="118872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557016" y="4709160"/>
            <a:ext cx="11475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68596" y="4777740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33188" y="470916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533388" y="4777740"/>
            <a:ext cx="118872" cy="11887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697980" y="4709160"/>
            <a:ext cx="20802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Structuring information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842248" y="4777740"/>
            <a:ext cx="118872" cy="118872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006840" y="4709160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concepting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937510" y="5052060"/>
            <a:ext cx="118872" cy="118872"/>
          </a:xfrm>
          <a:prstGeom prst="rect">
            <a:avLst/>
          </a:prstGeom>
          <a:solidFill>
            <a:srgbClr val="CE9B4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102102" y="4983480"/>
            <a:ext cx="2002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synthesis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68646" y="5052060"/>
            <a:ext cx="118872" cy="118872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333238" y="4983480"/>
            <a:ext cx="16139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formulas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11162" y="5052060"/>
            <a:ext cx="118872" cy="118872"/>
          </a:xfrm>
          <a:prstGeom prst="rect">
            <a:avLst/>
          </a:prstGeom>
          <a:solidFill>
            <a:srgbClr val="E8D3A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5754" y="4983480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Brainstorming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542782" y="5052060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707374" y="4983480"/>
            <a:ext cx="6812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365760" y="530352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work made up two-thirds of tests: data and analysis, summarizing, content creation and structuring.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Analytics ran 46% of all tests; Strategy, Legal, Marketing and HR ran 3 to 5 each.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 tasks compared by Champions. Percentages are each department’s share of its own tasks.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scored higher on all six dimensions, by a modest margin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score per task, by dimension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gaps: clarity and tone, and trust and accuracy, 0.26 points each; smallest: time saved, 0.13.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also needed less prompting to get there (3.93 vs 3.73; a higher score means less effort).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Champion score per task, 1 to 5. Prompt effort: a higher score means less effort. Axis starts at 3.0.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was preferred in most kinds of work; ChatGPT only in content creation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tasks in each theme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96062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960620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8920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960620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89204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230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led 7 of 9 kinds of work, tied in visual concepting, and trailed only in content creation (4 of 11 tasks).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data and analysis, the most-tested kind of work, Claude was preferred 15 to 7, with 6 ties.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tasks with a Claude, ChatGPT or tied pick; excludes 2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departments preferred Claude; Merchandising and Shared Services leaned ChatGPT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tool, % of each department’s tasks (number of tasks)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2594" y="496062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917186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40146" y="4960620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904738" y="48920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572250" y="4960620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736842" y="489204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5230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Analytics, the two departments with 16 or more tasks, preferred Claude 15 to 11 and 8 to 5.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Services (3 to 2) and Merchandising (5 to 3) leaned ChatGPT; Marketing split 1 to 1 with 2 ties.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 tasks with a Claude, ChatGPT or tied pick; excludes 2 marked Either or Neither.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Asked for an overall preference, Champions chose Claude nearly four to one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Champions’ preferred tool, by department (number of Champions)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114300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87802" y="4960620"/>
            <a:ext cx="118872" cy="118872"/>
          </a:xfrm>
          <a:prstGeom prst="rect">
            <a:avLst/>
          </a:prstGeom>
          <a:solidFill>
            <a:srgbClr val="CC003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152394" y="489204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75354" y="4960620"/>
            <a:ext cx="118872" cy="118872"/>
          </a:xfrm>
          <a:prstGeom prst="rect">
            <a:avLst/>
          </a:prstGeom>
          <a:solidFill>
            <a:srgbClr val="7F7F7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139946" y="4892040"/>
            <a:ext cx="8366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40630" y="4960620"/>
            <a:ext cx="118872" cy="118872"/>
          </a:xfrm>
          <a:prstGeom prst="rect">
            <a:avLst/>
          </a:prstGeom>
          <a:solidFill>
            <a:srgbClr val="BFBFB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205222" y="48920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872734" y="4960620"/>
            <a:ext cx="118872" cy="118872"/>
          </a:xfrm>
          <a:prstGeom prst="rect">
            <a:avLst/>
          </a:prstGeom>
          <a:solidFill>
            <a:srgbClr val="1B75B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7326" y="4892040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 on the task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70698" y="4960620"/>
            <a:ext cx="118872" cy="118872"/>
          </a:xfrm>
          <a:prstGeom prst="rect">
            <a:avLst/>
          </a:prstGeom>
          <a:solidFill>
            <a:srgbClr val="DBDBD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035290" y="4892040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preference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5230368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of 27 Champions with a clear answer chose Claude, 4 chose ChatGPT; 8 said both or that it depends on the task.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Technology has more than four Champions; every other department shows two to four individual views.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Champions in scope. Labels show number of Champions. No preference: blank answer or no submission.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0"/>
            <a:ext cx="11430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results and Champions’ preferences agree in most departments; Analytics and HR differ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11274552" y="64739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84124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tool by department: task results and Champions’ overall preference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108960"/>
                <a:gridCol w="310896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Task results (preferred tool per task)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Champions’ overall preference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3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15, ChatGPT 11, tied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5, ChatGPT 1, both 1, none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Analytics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8, ChatGPT 5, tied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2, 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Differ: tasks favor Claude, Champions favor ChatGPT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Merchandising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5, Claude 3, tied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2, 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no single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(6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Membership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1,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depends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Lean Claude (5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2,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either tool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Shared Services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3, Claude 2, tied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Depends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depends on the task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(5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Legal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3, ChatGPT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Agree: Claude (4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1, ChatGPT 1, tied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Champions favor Claude; tasks split (4 tasks)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2, ChatGPT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ChatGPT 1, none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C00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Differ: 3 tasks and one answer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E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365760" y="4800600"/>
            <a:ext cx="11430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is the one unresolved case with enough data: 16 tasks favor Claude, but 2 of 3 Champions prefer ChatGPT.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Clr>
                <a:srgbClr val="CC0033"/>
              </a:buClr>
              <a:buSzPct val="100000"/>
              <a:buChar char="■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rests on 3 tasks and one Champion’s answer, too little to settle either way.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59893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counts exclude 2 tasks marked Either or Neither. Champion counts show all answers given.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2026-10-01T20:31:13Z</dcterms:created>
  <dcterms:modified xsi:type="dcterms:W3CDTF">2026-10-01T20:31:13Z</dcterms:modified>
</cp:coreProperties>
</file>