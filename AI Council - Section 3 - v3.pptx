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&amp; analysis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(96)</c:v>
                  </c:pt>
                  <c:pt idx="1">
                    <c:v>Technology
(28)</c:v>
                  </c:pt>
                  <c:pt idx="2">
                    <c:v>Analytics
(16)</c:v>
                  </c:pt>
                  <c:pt idx="3">
                    <c:v>Merchandising
(12)</c:v>
                  </c:pt>
                  <c:pt idx="4">
                    <c:v>Finance
(6)</c:v>
                  </c:pt>
                  <c:pt idx="5">
                    <c:v>Membership
(6)</c:v>
                  </c:pt>
                  <c:pt idx="6">
                    <c:v>Operations
(6)</c:v>
                  </c:pt>
                  <c:pt idx="7">
                    <c:v>Shared
Services
(6)</c:v>
                  </c:pt>
                  <c:pt idx="8">
                    <c:v>Strategy
(5)</c:v>
                  </c:pt>
                  <c:pt idx="9">
                    <c:v>Legal
(4)</c:v>
                  </c:pt>
                  <c:pt idx="10">
                    <c:v>Marketing
(4)</c:v>
                  </c:pt>
                  <c:pt idx="11">
                    <c:v>HR
(3)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0.3125</c:v>
                </c:pt>
                <c:pt idx="1">
                  <c:v>0.17857142857142858</c:v>
                </c:pt>
                <c:pt idx="2">
                  <c:v>0.5</c:v>
                </c:pt>
                <c:pt idx="3">
                  <c:v>0.3333333333333333</c:v>
                </c:pt>
                <c:pt idx="4">
                  <c:v>0.6666666666666666</c:v>
                </c:pt>
                <c:pt idx="5">
                  <c:v>0.5</c:v>
                </c:pt>
                <c:pt idx="6">
                  <c:v>0.16666666666666666</c:v>
                </c:pt>
                <c:pt idx="7">
                  <c:v>0.16666666666666666</c:v>
                </c:pt>
                <c:pt idx="8">
                  <c:v>0</c:v>
                </c:pt>
                <c:pt idx="9">
                  <c:v>0.25</c:v>
                </c:pt>
                <c:pt idx="10">
                  <c:v>0.75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Summarizing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(96)</c:v>
                  </c:pt>
                  <c:pt idx="1">
                    <c:v>Technology
(28)</c:v>
                  </c:pt>
                  <c:pt idx="2">
                    <c:v>Analytics
(16)</c:v>
                  </c:pt>
                  <c:pt idx="3">
                    <c:v>Merchandising
(12)</c:v>
                  </c:pt>
                  <c:pt idx="4">
                    <c:v>Finance
(6)</c:v>
                  </c:pt>
                  <c:pt idx="5">
                    <c:v>Membership
(6)</c:v>
                  </c:pt>
                  <c:pt idx="6">
                    <c:v>Operations
(6)</c:v>
                  </c:pt>
                  <c:pt idx="7">
                    <c:v>Shared
Services
(6)</c:v>
                  </c:pt>
                  <c:pt idx="8">
                    <c:v>Strategy
(5)</c:v>
                  </c:pt>
                  <c:pt idx="9">
                    <c:v>Legal
(4)</c:v>
                  </c:pt>
                  <c:pt idx="10">
                    <c:v>Marketing
(4)</c:v>
                  </c:pt>
                  <c:pt idx="11">
                    <c:v>HR
(3)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0.125</c:v>
                </c:pt>
                <c:pt idx="1">
                  <c:v>0.21428571428571427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0.3333333333333333</c:v>
                </c:pt>
                <c:pt idx="7">
                  <c:v>0</c:v>
                </c:pt>
                <c:pt idx="8">
                  <c:v>0.6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Content creation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(96)</c:v>
                  </c:pt>
                  <c:pt idx="1">
                    <c:v>Technology
(28)</c:v>
                  </c:pt>
                  <c:pt idx="2">
                    <c:v>Analytics
(16)</c:v>
                  </c:pt>
                  <c:pt idx="3">
                    <c:v>Merchandising
(12)</c:v>
                  </c:pt>
                  <c:pt idx="4">
                    <c:v>Finance
(6)</c:v>
                  </c:pt>
                  <c:pt idx="5">
                    <c:v>Membership
(6)</c:v>
                  </c:pt>
                  <c:pt idx="6">
                    <c:v>Operations
(6)</c:v>
                  </c:pt>
                  <c:pt idx="7">
                    <c:v>Shared
Services
(6)</c:v>
                  </c:pt>
                  <c:pt idx="8">
                    <c:v>Strategy
(5)</c:v>
                  </c:pt>
                  <c:pt idx="9">
                    <c:v>Legal
(4)</c:v>
                  </c:pt>
                  <c:pt idx="10">
                    <c:v>Marketing
(4)</c:v>
                  </c:pt>
                  <c:pt idx="11">
                    <c:v>HR
(3)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0.11458333333333333</c:v>
                </c:pt>
                <c:pt idx="1">
                  <c:v>0.03571428571428571</c:v>
                </c:pt>
                <c:pt idx="2">
                  <c:v>0.125</c:v>
                </c:pt>
                <c:pt idx="3">
                  <c:v>0.08333333333333333</c:v>
                </c:pt>
                <c:pt idx="4">
                  <c:v>0.16666666666666666</c:v>
                </c:pt>
                <c:pt idx="5">
                  <c:v>0.3333333333333333</c:v>
                </c:pt>
                <c:pt idx="6">
                  <c:v>0.16666666666666666</c:v>
                </c:pt>
                <c:pt idx="7">
                  <c:v>0.3333333333333333</c:v>
                </c:pt>
                <c:pt idx="8">
                  <c:v>0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Structuring information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(96)</c:v>
                  </c:pt>
                  <c:pt idx="1">
                    <c:v>Technology
(28)</c:v>
                  </c:pt>
                  <c:pt idx="2">
                    <c:v>Analytics
(16)</c:v>
                  </c:pt>
                  <c:pt idx="3">
                    <c:v>Merchandising
(12)</c:v>
                  </c:pt>
                  <c:pt idx="4">
                    <c:v>Finance
(6)</c:v>
                  </c:pt>
                  <c:pt idx="5">
                    <c:v>Membership
(6)</c:v>
                  </c:pt>
                  <c:pt idx="6">
                    <c:v>Operations
(6)</c:v>
                  </c:pt>
                  <c:pt idx="7">
                    <c:v>Shared
Services
(6)</c:v>
                  </c:pt>
                  <c:pt idx="8">
                    <c:v>Strategy
(5)</c:v>
                  </c:pt>
                  <c:pt idx="9">
                    <c:v>Legal
(4)</c:v>
                  </c:pt>
                  <c:pt idx="10">
                    <c:v>Marketing
(4)</c:v>
                  </c:pt>
                  <c:pt idx="11">
                    <c:v>HR
(3)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0.10416666666666667</c:v>
                </c:pt>
                <c:pt idx="1">
                  <c:v>0.07142857142857142</c:v>
                </c:pt>
                <c:pt idx="2">
                  <c:v>0</c:v>
                </c:pt>
                <c:pt idx="3">
                  <c:v>0.25</c:v>
                </c:pt>
                <c:pt idx="4">
                  <c:v>0</c:v>
                </c:pt>
                <c:pt idx="5">
                  <c:v>0.16666666666666666</c:v>
                </c:pt>
                <c:pt idx="6">
                  <c:v>0.16666666666666666</c:v>
                </c:pt>
                <c:pt idx="7">
                  <c:v>0.5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 themes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8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(96)</c:v>
                  </c:pt>
                  <c:pt idx="1">
                    <c:v>Technology
(28)</c:v>
                  </c:pt>
                  <c:pt idx="2">
                    <c:v>Analytics
(16)</c:v>
                  </c:pt>
                  <c:pt idx="3">
                    <c:v>Merchandising
(12)</c:v>
                  </c:pt>
                  <c:pt idx="4">
                    <c:v>Finance
(6)</c:v>
                  </c:pt>
                  <c:pt idx="5">
                    <c:v>Membership
(6)</c:v>
                  </c:pt>
                  <c:pt idx="6">
                    <c:v>Operations
(6)</c:v>
                  </c:pt>
                  <c:pt idx="7">
                    <c:v>Shared
Services
(6)</c:v>
                  </c:pt>
                  <c:pt idx="8">
                    <c:v>Strategy
(5)</c:v>
                  </c:pt>
                  <c:pt idx="9">
                    <c:v>Legal
(4)</c:v>
                  </c:pt>
                  <c:pt idx="10">
                    <c:v>Marketing
(4)</c:v>
                  </c:pt>
                  <c:pt idx="11">
                    <c:v>HR
(3)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0.34375</c:v>
                </c:pt>
                <c:pt idx="1">
                  <c:v>0.5</c:v>
                </c:pt>
                <c:pt idx="2">
                  <c:v>0.375</c:v>
                </c:pt>
                <c:pt idx="3">
                  <c:v>0.3333333333333333</c:v>
                </c:pt>
                <c:pt idx="4">
                  <c:v>0.16666666666666666</c:v>
                </c:pt>
                <c:pt idx="5">
                  <c:v>0</c:v>
                </c:pt>
                <c:pt idx="6">
                  <c:v>0.16666666666666666</c:v>
                </c:pt>
                <c:pt idx="7">
                  <c:v>0</c:v>
                </c:pt>
                <c:pt idx="8">
                  <c:v>0.4</c:v>
                </c:pt>
                <c:pt idx="9">
                  <c:v>0.25</c:v>
                </c:pt>
                <c:pt idx="10">
                  <c:v>0.25</c:v>
                </c:pt>
                <c:pt idx="11">
                  <c:v>1</c:v>
                </c:pt>
              </c:numCache>
            </c:numRef>
          </c:val>
        </c:ser>
        <c:dLbls>
          <c:numFmt formatCode="[&lt;0.08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Output quality</c:v>
                  </c:pt>
                  <c:pt idx="1">
                    <c:v>Instruction-following</c:v>
                  </c:pt>
                  <c:pt idx="2">
                    <c:v>Clarity and tone</c:v>
                  </c:pt>
                  <c:pt idx="3">
                    <c:v>Prompt effort</c:v>
                  </c:pt>
                  <c:pt idx="4">
                    <c:v>Time saved</c:v>
                  </c:pt>
                  <c:pt idx="5">
                    <c:v>Trust and accuracy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3.81</c:v>
                </c:pt>
                <c:pt idx="1">
                  <c:v>4.04</c:v>
                </c:pt>
                <c:pt idx="2">
                  <c:v>3.92</c:v>
                </c:pt>
                <c:pt idx="3">
                  <c:v>3.73</c:v>
                </c:pt>
                <c:pt idx="4">
                  <c:v>3.88</c:v>
                </c:pt>
                <c:pt idx="5">
                  <c:v>3.85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Output quality</c:v>
                  </c:pt>
                  <c:pt idx="1">
                    <c:v>Instruction-following</c:v>
                  </c:pt>
                  <c:pt idx="2">
                    <c:v>Clarity and tone</c:v>
                  </c:pt>
                  <c:pt idx="3">
                    <c:v>Prompt effort</c:v>
                  </c:pt>
                  <c:pt idx="4">
                    <c:v>Time saved</c:v>
                  </c:pt>
                  <c:pt idx="5">
                    <c:v>Trust and accuracy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3.99</c:v>
                </c:pt>
                <c:pt idx="1">
                  <c:v>4.2</c:v>
                </c:pt>
                <c:pt idx="2">
                  <c:v>4.18</c:v>
                </c:pt>
                <c:pt idx="3">
                  <c:v>3.93</c:v>
                </c:pt>
                <c:pt idx="4">
                  <c:v>4.01</c:v>
                </c:pt>
                <c:pt idx="5">
                  <c:v>4.11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4"/>
          <c:min val="3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(12)</c:v>
                  </c:pt>
                  <c:pt idx="4">
                    <c:v>Data &amp;
analysis
(29)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0.71</c:v>
                </c:pt>
                <c:pt idx="2">
                  <c:v>0.6</c:v>
                </c:pt>
                <c:pt idx="3">
                  <c:v>0.58</c:v>
                </c:pt>
                <c:pt idx="4">
                  <c:v>0.55</c:v>
                </c:pt>
                <c:pt idx="5">
                  <c:v>0.5</c:v>
                </c:pt>
                <c:pt idx="6">
                  <c:v>0.44</c:v>
                </c:pt>
                <c:pt idx="7">
                  <c:v>0.44</c:v>
                </c:pt>
                <c:pt idx="8">
                  <c:v>0.36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Tied</c:v>
                </c:pt>
              </c:strCache>
            </c:strRef>
          </c:tx>
          <c:spPr>
            <a:solidFill>
              <a:srgbClr val="CE9B41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(12)</c:v>
                  </c:pt>
                  <c:pt idx="4">
                    <c:v>Data &amp;
analysis
(29)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0.08</c:v>
                </c:pt>
                <c:pt idx="4">
                  <c:v>0.21</c:v>
                </c:pt>
                <c:pt idx="5">
                  <c:v>0.13</c:v>
                </c:pt>
                <c:pt idx="6">
                  <c:v>0.22</c:v>
                </c:pt>
                <c:pt idx="7">
                  <c:v>0.12</c:v>
                </c:pt>
                <c:pt idx="8">
                  <c:v>0.09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(12)</c:v>
                  </c:pt>
                  <c:pt idx="4">
                    <c:v>Data &amp;
analysis
(29)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0.29</c:v>
                </c:pt>
                <c:pt idx="2">
                  <c:v>0.2</c:v>
                </c:pt>
                <c:pt idx="3">
                  <c:v>0.34</c:v>
                </c:pt>
                <c:pt idx="4">
                  <c:v>0.24</c:v>
                </c:pt>
                <c:pt idx="5">
                  <c:v>0.37</c:v>
                </c:pt>
                <c:pt idx="6">
                  <c:v>0.34</c:v>
                </c:pt>
                <c:pt idx="7">
                  <c:v>0.44</c:v>
                </c:pt>
                <c:pt idx="8">
                  <c:v>0.55</c:v>
                </c:pt>
              </c:numCache>
            </c:numRef>
          </c:val>
        </c:ser>
        <c:dLbls>
          <c:numFmt formatCode="[&lt;0.07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0.54</c:v>
                </c:pt>
                <c:pt idx="1">
                  <c:v>1</c:v>
                </c:pt>
                <c:pt idx="2">
                  <c:v>1</c:v>
                </c:pt>
                <c:pt idx="3">
                  <c:v>0.75</c:v>
                </c:pt>
                <c:pt idx="4">
                  <c:v>0.67</c:v>
                </c:pt>
                <c:pt idx="5">
                  <c:v>0.6</c:v>
                </c:pt>
                <c:pt idx="6">
                  <c:v>0.54</c:v>
                </c:pt>
                <c:pt idx="7">
                  <c:v>0.5</c:v>
                </c:pt>
                <c:pt idx="8">
                  <c:v>0.5</c:v>
                </c:pt>
                <c:pt idx="9">
                  <c:v>0.33</c:v>
                </c:pt>
                <c:pt idx="10">
                  <c:v>0.27</c:v>
                </c:pt>
                <c:pt idx="11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Tied</c:v>
                </c:pt>
              </c:strCache>
            </c:strRef>
          </c:tx>
          <c:spPr>
            <a:solidFill>
              <a:srgbClr val="CE9B41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0.2</c:v>
                </c:pt>
                <c:pt idx="6">
                  <c:v>0.07</c:v>
                </c:pt>
                <c:pt idx="7">
                  <c:v>0.19</c:v>
                </c:pt>
                <c:pt idx="8">
                  <c:v>0.17</c:v>
                </c:pt>
                <c:pt idx="9">
                  <c:v>0.17</c:v>
                </c:pt>
                <c:pt idx="10">
                  <c:v>0.27</c:v>
                </c:pt>
                <c:pt idx="11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0.32</c:v>
                </c:pt>
                <c:pt idx="1">
                  <c:v>0</c:v>
                </c:pt>
                <c:pt idx="2">
                  <c:v>0</c:v>
                </c:pt>
                <c:pt idx="3">
                  <c:v>0.25</c:v>
                </c:pt>
                <c:pt idx="4">
                  <c:v>0.33</c:v>
                </c:pt>
                <c:pt idx="5">
                  <c:v>0.2</c:v>
                </c:pt>
                <c:pt idx="6">
                  <c:v>0.39</c:v>
                </c:pt>
                <c:pt idx="7">
                  <c:v>0.31</c:v>
                </c:pt>
                <c:pt idx="8">
                  <c:v>0.33</c:v>
                </c:pt>
                <c:pt idx="9">
                  <c:v>0.5</c:v>
                </c:pt>
                <c:pt idx="10">
                  <c:v>0.46</c:v>
                </c:pt>
                <c:pt idx="11">
                  <c:v>0.25</c:v>
                </c:pt>
              </c:numCache>
            </c:numRef>
          </c:val>
        </c:ser>
        <c:dLbls>
          <c:numFmt formatCode="[&lt;0.07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summary: tool selection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to come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65760" y="1234440"/>
            <a:ext cx="11430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[Placeholder: insights summary]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both tools on their own real tasks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tool comparison was run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870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9738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6576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TASKS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Champion chose three real tasks from their own 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042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6042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2910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69748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 TOOLS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prompt and inputs went into Claude and ChatGPT.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9214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9214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6082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029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FIRST RESPONSE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quality, instruction-following, and clarity and tone.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2386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2386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89254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36092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AND VERIFY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the task, then scored effort, time saved and trust in results.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35558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5558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WINNER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 the preferred tool for each task and explained why.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Champions tested their own work, the results reflect BJ’s real tasks, not vendor benchmarks.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tasks were compared across 11 departments, each scored on the same six measures.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Champion submitted one completed tracker with task-level picks and a final assessment.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analysis was the most-tested task, but department mixes vary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compared by theme, % of each department’s tasks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899666" y="4960620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064258" y="4892040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86734" y="4960620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51326" y="4892040"/>
            <a:ext cx="11475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62906" y="4960620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27498" y="489204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7698" y="4960620"/>
            <a:ext cx="118872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92290" y="4892040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information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36558" y="4960620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201150" y="489204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themes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5230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Analytics ran 44 of 96 comparisons (46%), so their results carry the most weight.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Strategy, Legal, Marketing and HR tested 3 to 5 tasks each; read those departments as directional.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themes: visual concepting, research and synthesis, code and formulas, brainstorming, other. Labels under 8% not shown.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scored higher than ChatGPT on every dimension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score per task, by dimension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scored higher on all six dimensions.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gaps are in clarity and tone and in trust and accuracy, 0.26 points each.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also required less prompting effort, so the better results came with less work.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Champion scores across compared tasks. Axis starts at 3.0 to show differences.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was preferred in most task themes, except content creation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tasks in each theme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2594" y="4960620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17186" y="48920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40146" y="4960620"/>
            <a:ext cx="118872" cy="118872"/>
          </a:xfrm>
          <a:prstGeom prst="rect">
            <a:avLst/>
          </a:prstGeom>
          <a:solidFill>
            <a:srgbClr val="CE9B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04738" y="48920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72250" y="4960620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6842" y="4892040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230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was preferred in 7 of 9 themes; visual concepting was a tie, and ChatGPT led only in content creation (55% vs 36%).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led most clearly in data and analysis, the most-tested theme (55% vs 24%); smaller themes are directional.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2 of 96 tasks marked Either/Neither.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departments preferred Claude, though most tested few tasks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each department’s tasks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2594" y="4960620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17186" y="48920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40146" y="4960620"/>
            <a:ext cx="118872" cy="118872"/>
          </a:xfrm>
          <a:prstGeom prst="rect">
            <a:avLst/>
          </a:prstGeom>
          <a:solidFill>
            <a:srgbClr val="CE9B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04738" y="48920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72250" y="4960620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6842" y="4892040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230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11 departments preferred Claude; Marketing was split, and Shared Services and Merchandising leaned ChatGPT.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Technology and Analytics tested 16+ tasks, and both preferred Claude in about half; the rest are directional.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Excludes 2 of 96 tasks marked Either/Neither.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2026-10-01T19:15:59Z</dcterms:created>
  <dcterms:modified xsi:type="dcterms:W3CDTF">2026-10-01T19:15:59Z</dcterms:modified>
</cp:coreProperties>
</file>